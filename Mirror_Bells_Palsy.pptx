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" name="Shape 2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irror.iali.in" TargetMode="External"/><Relationship Id="rId3" Type="http://schemas.openxmlformats.org/officeDocument/2006/relationships/hyperlink" Target="http://mirror.iali.in/try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irror.iali.in/try" TargetMode="External"/><Relationship Id="rId3" Type="http://schemas.openxmlformats.org/officeDocument/2006/relationships/hyperlink" Target="http://mirror.iali.in" TargetMode="Externa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iali.in/g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4"/>
          <p:cNvSpPr txBox="1"/>
          <p:nvPr/>
        </p:nvSpPr>
        <p:spPr>
          <a:xfrm>
            <a:off x="594360" y="1143000"/>
            <a:ext cx="7680960" cy="64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38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Mirror for Bell's Palsy</a:t>
            </a:r>
          </a:p>
        </p:txBody>
      </p:sp>
      <p:sp>
        <p:nvSpPr>
          <p:cNvPr id="30" name="Shape 6"/>
          <p:cNvSpPr/>
          <p:nvPr/>
        </p:nvSpPr>
        <p:spPr>
          <a:xfrm>
            <a:off x="587925" y="2359194"/>
            <a:ext cx="7021368" cy="1828716"/>
          </a:xfrm>
          <a:prstGeom prst="roundRect">
            <a:avLst>
              <a:gd name="adj" fmla="val 3315"/>
            </a:avLst>
          </a:prstGeom>
          <a:solidFill>
            <a:srgbClr val="E6F4F4"/>
          </a:solidFill>
          <a:ln w="10160">
            <a:solidFill>
              <a:srgbClr val="1A9FA6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7"/>
          <p:cNvSpPr/>
          <p:nvPr/>
        </p:nvSpPr>
        <p:spPr>
          <a:xfrm>
            <a:off x="587925" y="2359194"/>
            <a:ext cx="109729" cy="1828716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8"/>
          <p:cNvSpPr txBox="1"/>
          <p:nvPr/>
        </p:nvSpPr>
        <p:spPr>
          <a:xfrm>
            <a:off x="752517" y="2496354"/>
            <a:ext cx="6044185" cy="155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3000">
                <a:solidFill>
                  <a:srgbClr val="0A1F33"/>
                </a:solidFill>
              </a:defRPr>
            </a:lvl1pPr>
          </a:lstStyle>
          <a:p>
            <a:pPr/>
            <a:r>
              <a:t>A local-first facial retraining companion that turns invisible recovery into measurable practice.</a:t>
            </a:r>
          </a:p>
        </p:txBody>
      </p:sp>
      <p:grpSp>
        <p:nvGrpSpPr>
          <p:cNvPr id="35" name="Shape 9"/>
          <p:cNvGrpSpPr/>
          <p:nvPr/>
        </p:nvGrpSpPr>
        <p:grpSpPr>
          <a:xfrm>
            <a:off x="9921239" y="960119"/>
            <a:ext cx="1188721" cy="2171701"/>
            <a:chOff x="0" y="0"/>
            <a:chExt cx="1188719" cy="2171700"/>
          </a:xfrm>
        </p:grpSpPr>
        <p:sp>
          <p:nvSpPr>
            <p:cNvPr id="33" name="Shape"/>
            <p:cNvSpPr/>
            <p:nvPr/>
          </p:nvSpPr>
          <p:spPr>
            <a:xfrm>
              <a:off x="0" y="0"/>
              <a:ext cx="1188720" cy="21717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" name="Line"/>
            <p:cNvSpPr/>
            <p:nvPr/>
          </p:nvSpPr>
          <p:spPr>
            <a:xfrm>
              <a:off x="0" y="0"/>
              <a:ext cx="1188720" cy="21717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</a:pathLst>
            </a:custGeom>
            <a:noFill/>
            <a:ln w="38100" cap="flat">
              <a:solidFill>
                <a:srgbClr val="1A9FA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6" name="Shape 10"/>
          <p:cNvSpPr/>
          <p:nvPr/>
        </p:nvSpPr>
        <p:spPr>
          <a:xfrm flipH="1">
            <a:off x="9921240" y="1143000"/>
            <a:ext cx="1" cy="3931921"/>
          </a:xfrm>
          <a:prstGeom prst="line">
            <a:avLst/>
          </a:prstGeom>
          <a:ln w="16510">
            <a:solidFill>
              <a:srgbClr val="0A1F33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39" name="Shape 11"/>
          <p:cNvGrpSpPr/>
          <p:nvPr/>
        </p:nvGrpSpPr>
        <p:grpSpPr>
          <a:xfrm>
            <a:off x="10108690" y="1719072"/>
            <a:ext cx="891541" cy="1348741"/>
            <a:chOff x="0" y="0"/>
            <a:chExt cx="891540" cy="1348740"/>
          </a:xfrm>
        </p:grpSpPr>
        <p:sp>
          <p:nvSpPr>
            <p:cNvPr id="37" name="Shape"/>
            <p:cNvSpPr/>
            <p:nvPr/>
          </p:nvSpPr>
          <p:spPr>
            <a:xfrm>
              <a:off x="0" y="0"/>
              <a:ext cx="891541" cy="134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" name="Line"/>
            <p:cNvSpPr/>
            <p:nvPr/>
          </p:nvSpPr>
          <p:spPr>
            <a:xfrm>
              <a:off x="0" y="0"/>
              <a:ext cx="891541" cy="134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</a:pathLst>
            </a:custGeom>
            <a:noFill/>
            <a:ln w="15240" cap="flat">
              <a:solidFill>
                <a:srgbClr val="BFE4E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40" name="Shape 12"/>
          <p:cNvSpPr/>
          <p:nvPr/>
        </p:nvSpPr>
        <p:spPr>
          <a:xfrm>
            <a:off x="10104119" y="1874520"/>
            <a:ext cx="1" cy="2331721"/>
          </a:xfrm>
          <a:prstGeom prst="line">
            <a:avLst/>
          </a:prstGeom>
          <a:ln w="11430">
            <a:solidFill>
              <a:srgbClr val="C9D8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Shape 13"/>
          <p:cNvSpPr/>
          <p:nvPr/>
        </p:nvSpPr>
        <p:spPr>
          <a:xfrm>
            <a:off x="9646919" y="2450592"/>
            <a:ext cx="91441" cy="91441"/>
          </a:xfrm>
          <a:prstGeom prst="ellipse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Shape 14"/>
          <p:cNvSpPr/>
          <p:nvPr/>
        </p:nvSpPr>
        <p:spPr>
          <a:xfrm>
            <a:off x="10451592" y="2450592"/>
            <a:ext cx="91441" cy="91441"/>
          </a:xfrm>
          <a:prstGeom prst="ellipse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Shape 15"/>
          <p:cNvSpPr/>
          <p:nvPr/>
        </p:nvSpPr>
        <p:spPr>
          <a:xfrm>
            <a:off x="9710928" y="3273552"/>
            <a:ext cx="749809" cy="1"/>
          </a:xfrm>
          <a:prstGeom prst="line">
            <a:avLst/>
          </a:prstGeom>
          <a:ln w="13970">
            <a:solidFill>
              <a:srgbClr val="0A1F33">
                <a:alpha val="6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16"/>
          <p:cNvSpPr/>
          <p:nvPr/>
        </p:nvSpPr>
        <p:spPr>
          <a:xfrm>
            <a:off x="9582911" y="2871216"/>
            <a:ext cx="1024129" cy="1"/>
          </a:xfrm>
          <a:prstGeom prst="line">
            <a:avLst/>
          </a:prstGeom>
          <a:ln w="10160">
            <a:solidFill>
              <a:srgbClr val="1A9FA6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7"/>
          <p:cNvSpPr txBox="1"/>
          <p:nvPr/>
        </p:nvSpPr>
        <p:spPr>
          <a:xfrm>
            <a:off x="621791" y="6053328"/>
            <a:ext cx="320040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300">
                <a:solidFill>
                  <a:srgbClr val="1A9FA6"/>
                </a:solidFill>
              </a:defRPr>
            </a:lvl1pPr>
          </a:lstStyle>
          <a:p>
            <a:pPr/>
            <a:r>
              <a:t>mirror.iali.in</a:t>
            </a:r>
          </a:p>
        </p:txBody>
      </p:sp>
      <p:sp>
        <p:nvSpPr>
          <p:cNvPr id="46" name="Text 18"/>
          <p:cNvSpPr txBox="1"/>
          <p:nvPr/>
        </p:nvSpPr>
        <p:spPr>
          <a:xfrm>
            <a:off x="9784080" y="6053328"/>
            <a:ext cx="164592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sz="1100">
                <a:solidFill>
                  <a:srgbClr val="4E5F6E"/>
                </a:solidFill>
              </a:defRPr>
            </a:lvl1pPr>
          </a:lstStyle>
          <a:p>
            <a:pPr/>
            <a:r>
              <a:t>Ali Mustufa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WHY THIS MATTERS</a:t>
            </a:r>
          </a:p>
        </p:txBody>
      </p:sp>
      <p:sp>
        <p:nvSpPr>
          <p:cNvPr id="51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The executive thesis</a:t>
            </a:r>
          </a:p>
        </p:txBody>
      </p:sp>
      <p:sp>
        <p:nvSpPr>
          <p:cNvPr id="52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3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55" name="Text 7"/>
          <p:cNvSpPr txBox="1"/>
          <p:nvPr/>
        </p:nvSpPr>
        <p:spPr>
          <a:xfrm>
            <a:off x="621791" y="1627632"/>
            <a:ext cx="10378442" cy="78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700">
                <a:solidFill>
                  <a:srgbClr val="4E5F6E"/>
                </a:solidFill>
              </a:defRPr>
            </a:lvl1pPr>
          </a:lstStyle>
          <a:p>
            <a:pPr/>
            <a:r>
              <a:t>Bell's palsy recovery depends on feedback, but the patient cannot reliably feel or see the millimetres that matter. Mirror converts webcam geometry into practice-grade signals, while keeping the product local, private, and conservative.</a:t>
            </a:r>
          </a:p>
        </p:txBody>
      </p:sp>
      <p:sp>
        <p:nvSpPr>
          <p:cNvPr id="56" name="Shape 8"/>
          <p:cNvSpPr/>
          <p:nvPr/>
        </p:nvSpPr>
        <p:spPr>
          <a:xfrm>
            <a:off x="3611879" y="3822191"/>
            <a:ext cx="731521" cy="1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Shape 9"/>
          <p:cNvSpPr/>
          <p:nvPr/>
        </p:nvSpPr>
        <p:spPr>
          <a:xfrm>
            <a:off x="7086600" y="3822191"/>
            <a:ext cx="731521" cy="1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Shape 10"/>
          <p:cNvSpPr/>
          <p:nvPr/>
        </p:nvSpPr>
        <p:spPr>
          <a:xfrm>
            <a:off x="868680" y="2971800"/>
            <a:ext cx="2423161" cy="1691640"/>
          </a:xfrm>
          <a:prstGeom prst="roundRect">
            <a:avLst>
              <a:gd name="adj" fmla="val 4324"/>
            </a:avLst>
          </a:prstGeom>
          <a:solidFill>
            <a:srgbClr val="F4E5D1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11"/>
          <p:cNvSpPr txBox="1"/>
          <p:nvPr/>
        </p:nvSpPr>
        <p:spPr>
          <a:xfrm>
            <a:off x="1014983" y="3273552"/>
            <a:ext cx="2130553" cy="1271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700">
                <a:solidFill>
                  <a:srgbClr val="0A1F33"/>
                </a:solidFill>
              </a:defRPr>
            </a:pPr>
            <a:r>
              <a:t>Invisible</a:t>
            </a:r>
          </a:p>
          <a:p>
            <a:pPr algn="ctr">
              <a:defRPr b="1" sz="1700">
                <a:solidFill>
                  <a:srgbClr val="0A1F33"/>
                </a:solidFill>
              </a:defRPr>
            </a:pPr>
            <a:r>
              <a:t>recovery</a:t>
            </a:r>
          </a:p>
        </p:txBody>
      </p:sp>
      <p:sp>
        <p:nvSpPr>
          <p:cNvPr id="60" name="Shape 12"/>
          <p:cNvSpPr/>
          <p:nvPr/>
        </p:nvSpPr>
        <p:spPr>
          <a:xfrm>
            <a:off x="4617720" y="2971800"/>
            <a:ext cx="2423161" cy="1691640"/>
          </a:xfrm>
          <a:prstGeom prst="roundRect">
            <a:avLst>
              <a:gd name="adj" fmla="val 4324"/>
            </a:avLst>
          </a:prstGeom>
          <a:solidFill>
            <a:srgbClr val="E6F4F4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13"/>
          <p:cNvSpPr txBox="1"/>
          <p:nvPr/>
        </p:nvSpPr>
        <p:spPr>
          <a:xfrm>
            <a:off x="4764023" y="3273552"/>
            <a:ext cx="2130553" cy="1271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700">
                <a:solidFill>
                  <a:srgbClr val="0A1F33"/>
                </a:solidFill>
              </a:defRPr>
            </a:pPr>
            <a:r>
              <a:t>Custom</a:t>
            </a:r>
          </a:p>
          <a:p>
            <a:pPr algn="ctr">
              <a:defRPr b="1" sz="1700">
                <a:solidFill>
                  <a:srgbClr val="0A1F33"/>
                </a:solidFill>
              </a:defRPr>
            </a:pPr>
            <a:r>
              <a:t>measurement layer</a:t>
            </a:r>
          </a:p>
        </p:txBody>
      </p:sp>
      <p:sp>
        <p:nvSpPr>
          <p:cNvPr id="62" name="Shape 14"/>
          <p:cNvSpPr/>
          <p:nvPr/>
        </p:nvSpPr>
        <p:spPr>
          <a:xfrm>
            <a:off x="8366759" y="2971800"/>
            <a:ext cx="2423161" cy="1691640"/>
          </a:xfrm>
          <a:prstGeom prst="roundRect">
            <a:avLst>
              <a:gd name="adj" fmla="val 4324"/>
            </a:avLst>
          </a:prstGeom>
          <a:solidFill>
            <a:srgbClr val="E4F2EC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15"/>
          <p:cNvSpPr txBox="1"/>
          <p:nvPr/>
        </p:nvSpPr>
        <p:spPr>
          <a:xfrm>
            <a:off x="8513064" y="3273552"/>
            <a:ext cx="2130553" cy="1271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700">
                <a:solidFill>
                  <a:srgbClr val="0A1F33"/>
                </a:solidFill>
              </a:defRPr>
            </a:pPr>
            <a:r>
              <a:t>Actionable</a:t>
            </a:r>
          </a:p>
          <a:p>
            <a:pPr algn="ctr">
              <a:defRPr b="1" sz="1700">
                <a:solidFill>
                  <a:srgbClr val="0A1F33"/>
                </a:solidFill>
              </a:defRPr>
            </a:pPr>
            <a:r>
              <a:t>practice loop</a:t>
            </a:r>
          </a:p>
        </p:txBody>
      </p:sp>
      <p:sp>
        <p:nvSpPr>
          <p:cNvPr id="64" name="Text 16"/>
          <p:cNvSpPr txBox="1"/>
          <p:nvPr/>
        </p:nvSpPr>
        <p:spPr>
          <a:xfrm>
            <a:off x="1508760" y="4892040"/>
            <a:ext cx="109728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b="1" sz="1100">
                <a:solidFill>
                  <a:srgbClr val="C58B36"/>
                </a:solidFill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65" name="Text 17"/>
          <p:cNvSpPr txBox="1"/>
          <p:nvPr/>
        </p:nvSpPr>
        <p:spPr>
          <a:xfrm>
            <a:off x="5257800" y="4892040"/>
            <a:ext cx="109728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b="1" sz="1100">
                <a:solidFill>
                  <a:srgbClr val="1A9FA6"/>
                </a:solidFill>
              </a:defRPr>
            </a:lvl1pPr>
          </a:lstStyle>
          <a:p>
            <a:pPr/>
            <a:r>
              <a:t>Algorithm</a:t>
            </a:r>
          </a:p>
        </p:txBody>
      </p:sp>
      <p:sp>
        <p:nvSpPr>
          <p:cNvPr id="66" name="Text 18"/>
          <p:cNvSpPr txBox="1"/>
          <p:nvPr/>
        </p:nvSpPr>
        <p:spPr>
          <a:xfrm>
            <a:off x="9034271" y="4892040"/>
            <a:ext cx="109728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b="1" sz="1100">
                <a:solidFill>
                  <a:srgbClr val="3B8B74"/>
                </a:solidFill>
              </a:defRPr>
            </a:lvl1pPr>
          </a:lstStyle>
          <a:p>
            <a:pPr/>
            <a:r>
              <a:t>Product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71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The patient problem is a broken feedback loop</a:t>
            </a:r>
          </a:p>
        </p:txBody>
      </p:sp>
      <p:sp>
        <p:nvSpPr>
          <p:cNvPr id="72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73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75" name="Text 7"/>
          <p:cNvSpPr txBox="1"/>
          <p:nvPr/>
        </p:nvSpPr>
        <p:spPr>
          <a:xfrm>
            <a:off x="713231" y="1591055"/>
            <a:ext cx="4114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3200">
                <a:solidFill>
                  <a:srgbClr val="1A9F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76" name="Text 8"/>
          <p:cNvSpPr txBox="1"/>
          <p:nvPr/>
        </p:nvSpPr>
        <p:spPr>
          <a:xfrm>
            <a:off x="1280160" y="1682495"/>
            <a:ext cx="4325113" cy="713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i="1">
                <a:solidFill>
                  <a:srgbClr val="0A1F33"/>
                </a:solidFill>
              </a:defRPr>
            </a:lvl1pPr>
          </a:lstStyle>
          <a:p>
            <a:pPr/>
            <a:r>
              <a:t>When half your face won't move, the mirror stops being useful.</a:t>
            </a:r>
          </a:p>
        </p:txBody>
      </p:sp>
      <p:grpSp>
        <p:nvGrpSpPr>
          <p:cNvPr id="79" name="Shape 9"/>
          <p:cNvGrpSpPr/>
          <p:nvPr/>
        </p:nvGrpSpPr>
        <p:grpSpPr>
          <a:xfrm>
            <a:off x="8531350" y="2157983"/>
            <a:ext cx="1783081" cy="1485901"/>
            <a:chOff x="0" y="0"/>
            <a:chExt cx="1783080" cy="1485900"/>
          </a:xfrm>
        </p:grpSpPr>
        <p:sp>
          <p:nvSpPr>
            <p:cNvPr id="77" name="Shape"/>
            <p:cNvSpPr/>
            <p:nvPr/>
          </p:nvSpPr>
          <p:spPr>
            <a:xfrm>
              <a:off x="0" y="0"/>
              <a:ext cx="1783081" cy="1485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8" name="Line"/>
            <p:cNvSpPr/>
            <p:nvPr/>
          </p:nvSpPr>
          <p:spPr>
            <a:xfrm>
              <a:off x="0" y="0"/>
              <a:ext cx="1783081" cy="1485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</a:pathLst>
            </a:custGeom>
            <a:noFill/>
            <a:ln w="15240" cap="flat">
              <a:solidFill>
                <a:srgbClr val="C58B36">
                  <a:alpha val="50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0" name="Shape 10"/>
          <p:cNvSpPr/>
          <p:nvPr/>
        </p:nvSpPr>
        <p:spPr>
          <a:xfrm>
            <a:off x="7754111" y="1764792"/>
            <a:ext cx="1499617" cy="621793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11"/>
          <p:cNvSpPr txBox="1"/>
          <p:nvPr/>
        </p:nvSpPr>
        <p:spPr>
          <a:xfrm>
            <a:off x="7900416" y="2066544"/>
            <a:ext cx="1207009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0A1F33"/>
                </a:solidFill>
              </a:defRPr>
            </a:lvl1pPr>
          </a:lstStyle>
          <a:p>
            <a:pPr/>
            <a:r>
              <a:t>Can't feel</a:t>
            </a:r>
          </a:p>
        </p:txBody>
      </p:sp>
      <p:sp>
        <p:nvSpPr>
          <p:cNvPr id="82" name="Shape 12"/>
          <p:cNvSpPr/>
          <p:nvPr/>
        </p:nvSpPr>
        <p:spPr>
          <a:xfrm>
            <a:off x="9884664" y="3163823"/>
            <a:ext cx="1499617" cy="621793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3"/>
          <p:cNvSpPr txBox="1"/>
          <p:nvPr/>
        </p:nvSpPr>
        <p:spPr>
          <a:xfrm>
            <a:off x="10030968" y="3465576"/>
            <a:ext cx="1207009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0A1F33"/>
                </a:solidFill>
              </a:defRPr>
            </a:lvl1pPr>
          </a:lstStyle>
          <a:p>
            <a:pPr/>
            <a:r>
              <a:t>Can't see</a:t>
            </a:r>
          </a:p>
        </p:txBody>
      </p:sp>
      <p:sp>
        <p:nvSpPr>
          <p:cNvPr id="84" name="Shape 14"/>
          <p:cNvSpPr/>
          <p:nvPr/>
        </p:nvSpPr>
        <p:spPr>
          <a:xfrm>
            <a:off x="7754111" y="4636008"/>
            <a:ext cx="1499617" cy="621793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15"/>
          <p:cNvSpPr txBox="1"/>
          <p:nvPr/>
        </p:nvSpPr>
        <p:spPr>
          <a:xfrm>
            <a:off x="7900416" y="4937759"/>
            <a:ext cx="1207009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0A1F33"/>
                </a:solidFill>
              </a:defRPr>
            </a:lvl1pPr>
          </a:lstStyle>
          <a:p>
            <a:pPr/>
            <a:r>
              <a:t>Can't trust</a:t>
            </a:r>
          </a:p>
        </p:txBody>
      </p:sp>
      <p:sp>
        <p:nvSpPr>
          <p:cNvPr id="86" name="Shape 16"/>
          <p:cNvSpPr/>
          <p:nvPr/>
        </p:nvSpPr>
        <p:spPr>
          <a:xfrm>
            <a:off x="5074920" y="3163823"/>
            <a:ext cx="1499617" cy="621793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17"/>
          <p:cNvSpPr txBox="1"/>
          <p:nvPr/>
        </p:nvSpPr>
        <p:spPr>
          <a:xfrm>
            <a:off x="5221223" y="3465576"/>
            <a:ext cx="1207009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0A1F33"/>
                </a:solidFill>
              </a:defRPr>
            </a:lvl1pPr>
          </a:lstStyle>
          <a:p>
            <a:pPr/>
            <a:r>
              <a:t>Skip reps</a:t>
            </a:r>
          </a:p>
        </p:txBody>
      </p:sp>
      <p:sp>
        <p:nvSpPr>
          <p:cNvPr id="88" name="Shape 18"/>
          <p:cNvSpPr/>
          <p:nvPr/>
        </p:nvSpPr>
        <p:spPr>
          <a:xfrm>
            <a:off x="731519" y="2834639"/>
            <a:ext cx="4251961" cy="221285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" name="Text 19"/>
          <p:cNvSpPr txBox="1"/>
          <p:nvPr/>
        </p:nvSpPr>
        <p:spPr>
          <a:xfrm>
            <a:off x="960119" y="3072383"/>
            <a:ext cx="237744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WHAT RECOVERY ASKS FOR</a:t>
            </a:r>
          </a:p>
        </p:txBody>
      </p:sp>
      <p:sp>
        <p:nvSpPr>
          <p:cNvPr id="90" name="Text 20"/>
          <p:cNvSpPr txBox="1"/>
          <p:nvPr/>
        </p:nvSpPr>
        <p:spPr>
          <a:xfrm>
            <a:off x="1005839" y="3474720"/>
            <a:ext cx="3429001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300">
                <a:solidFill>
                  <a:srgbClr val="4E5F6E"/>
                </a:solidFill>
              </a:defRPr>
            </a:pPr>
            <a:r>
              <a:t>Daily, gentle, repetitive movement</a:t>
            </a:r>
          </a:p>
          <a:p>
            <a:pPr>
              <a:defRPr sz="1300">
                <a:solidFill>
                  <a:srgbClr val="4E5F6E"/>
                </a:solidFill>
              </a:defRPr>
            </a:pPr>
            <a:r>
              <a:t>Evidence that effort is changing something</a:t>
            </a:r>
          </a:p>
          <a:p>
            <a:pPr>
              <a:defRPr sz="1300">
                <a:solidFill>
                  <a:srgbClr val="4E5F6E"/>
                </a:solidFill>
              </a:defRPr>
            </a:pPr>
            <a:r>
              <a:t>Confidence that a bad capture is not “bad recovery”</a:t>
            </a:r>
          </a:p>
        </p:txBody>
      </p:sp>
      <p:sp>
        <p:nvSpPr>
          <p:cNvPr id="91" name="Shape 21"/>
          <p:cNvSpPr/>
          <p:nvPr/>
        </p:nvSpPr>
        <p:spPr>
          <a:xfrm>
            <a:off x="6016752" y="5513832"/>
            <a:ext cx="4480560" cy="502921"/>
          </a:xfrm>
          <a:prstGeom prst="roundRect">
            <a:avLst>
              <a:gd name="adj" fmla="val 10909"/>
            </a:avLst>
          </a:prstGeom>
          <a:solidFill>
            <a:srgbClr val="F4E5D1"/>
          </a:solidFill>
          <a:ln w="10160">
            <a:solidFill>
              <a:srgbClr val="C58B36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Shape 22"/>
          <p:cNvSpPr/>
          <p:nvPr/>
        </p:nvSpPr>
        <p:spPr>
          <a:xfrm>
            <a:off x="6016752" y="5513832"/>
            <a:ext cx="64009" cy="502920"/>
          </a:xfrm>
          <a:prstGeom prst="rect">
            <a:avLst/>
          </a:prstGeom>
          <a:solidFill>
            <a:srgbClr val="C58B3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23"/>
          <p:cNvSpPr txBox="1"/>
          <p:nvPr/>
        </p:nvSpPr>
        <p:spPr>
          <a:xfrm>
            <a:off x="6172200" y="5632703"/>
            <a:ext cx="4169665" cy="26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68680">
              <a:defRPr b="1" sz="1235">
                <a:solidFill>
                  <a:srgbClr val="0A1F33"/>
                </a:solidFill>
              </a:defRPr>
            </a:lvl1pPr>
          </a:lstStyle>
          <a:p>
            <a:pPr/>
            <a:r>
              <a:t>Without measurement, motivation becomes guesswork.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PRODUCT</a:t>
            </a:r>
          </a:p>
        </p:txBody>
      </p:sp>
      <p:sp>
        <p:nvSpPr>
          <p:cNvPr id="98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Mirror at a glance</a:t>
            </a:r>
          </a:p>
        </p:txBody>
      </p:sp>
      <p:sp>
        <p:nvSpPr>
          <p:cNvPr id="99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00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102" name="Text 7"/>
          <p:cNvSpPr txBox="1"/>
          <p:nvPr/>
        </p:nvSpPr>
        <p:spPr>
          <a:xfrm>
            <a:off x="621792" y="1572767"/>
            <a:ext cx="10424160" cy="5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A practice companion, not a clinician. It guides exercises, tracks webcam landmarks with MediaPipe, scores balance and affected-side movement, and helps users export useful evidence.</a:t>
            </a:r>
          </a:p>
        </p:txBody>
      </p:sp>
      <p:sp>
        <p:nvSpPr>
          <p:cNvPr id="103" name="Shape 8"/>
          <p:cNvSpPr/>
          <p:nvPr/>
        </p:nvSpPr>
        <p:spPr>
          <a:xfrm>
            <a:off x="777240" y="2606039"/>
            <a:ext cx="4800601" cy="1051561"/>
          </a:xfrm>
          <a:prstGeom prst="roundRect">
            <a:avLst>
              <a:gd name="adj" fmla="val 6957"/>
            </a:avLst>
          </a:prstGeom>
          <a:solidFill>
            <a:srgbClr val="E6F4F4"/>
          </a:solidFill>
          <a:ln w="10160">
            <a:solidFill>
              <a:srgbClr val="1A9FA6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Shape 9"/>
          <p:cNvSpPr/>
          <p:nvPr/>
        </p:nvSpPr>
        <p:spPr>
          <a:xfrm>
            <a:off x="978408" y="2862072"/>
            <a:ext cx="384049" cy="384049"/>
          </a:xfrm>
          <a:prstGeom prst="ellipse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10"/>
          <p:cNvSpPr txBox="1"/>
          <p:nvPr/>
        </p:nvSpPr>
        <p:spPr>
          <a:xfrm>
            <a:off x="1527047" y="2816351"/>
            <a:ext cx="25603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defRPr b="1" sz="1358">
                <a:solidFill>
                  <a:srgbClr val="0A1F33"/>
                </a:solidFill>
              </a:defRPr>
            </a:lvl1pPr>
          </a:lstStyle>
          <a:p>
            <a:pPr/>
            <a:r>
              <a:t>Guided practice</a:t>
            </a:r>
          </a:p>
        </p:txBody>
      </p:sp>
      <p:sp>
        <p:nvSpPr>
          <p:cNvPr id="106" name="Text 11"/>
          <p:cNvSpPr txBox="1"/>
          <p:nvPr/>
        </p:nvSpPr>
        <p:spPr>
          <a:xfrm>
            <a:off x="1527047" y="3118104"/>
            <a:ext cx="3611881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Forehead, eyes, nose, cheeks, mouth, vowels, and expression-style movements.</a:t>
            </a:r>
          </a:p>
        </p:txBody>
      </p:sp>
      <p:sp>
        <p:nvSpPr>
          <p:cNvPr id="107" name="Shape 12"/>
          <p:cNvSpPr/>
          <p:nvPr/>
        </p:nvSpPr>
        <p:spPr>
          <a:xfrm>
            <a:off x="6172200" y="2606039"/>
            <a:ext cx="4800600" cy="1051561"/>
          </a:xfrm>
          <a:prstGeom prst="roundRect">
            <a:avLst>
              <a:gd name="adj" fmla="val 6957"/>
            </a:avLst>
          </a:prstGeom>
          <a:solidFill>
            <a:srgbClr val="E4F2EC"/>
          </a:solidFill>
          <a:ln w="10160">
            <a:solidFill>
              <a:srgbClr val="3B8B74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Shape 13"/>
          <p:cNvSpPr/>
          <p:nvPr/>
        </p:nvSpPr>
        <p:spPr>
          <a:xfrm>
            <a:off x="6373367" y="2862072"/>
            <a:ext cx="384049" cy="384049"/>
          </a:xfrm>
          <a:prstGeom prst="ellipse">
            <a:avLst/>
          </a:prstGeom>
          <a:solidFill>
            <a:srgbClr val="3B8B74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14"/>
          <p:cNvSpPr txBox="1"/>
          <p:nvPr/>
        </p:nvSpPr>
        <p:spPr>
          <a:xfrm>
            <a:off x="6922007" y="2816351"/>
            <a:ext cx="25603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defRPr b="1" sz="1358">
                <a:solidFill>
                  <a:srgbClr val="0A1F33"/>
                </a:solidFill>
              </a:defRPr>
            </a:lvl1pPr>
          </a:lstStyle>
          <a:p>
            <a:pPr/>
            <a:r>
              <a:t>Real-time scoring</a:t>
            </a:r>
          </a:p>
        </p:txBody>
      </p:sp>
      <p:sp>
        <p:nvSpPr>
          <p:cNvPr id="110" name="Text 15"/>
          <p:cNvSpPr txBox="1"/>
          <p:nvPr/>
        </p:nvSpPr>
        <p:spPr>
          <a:xfrm>
            <a:off x="6922007" y="3118104"/>
            <a:ext cx="3611881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Live left/right symmetry plus affected-side movement against personal baselines.</a:t>
            </a:r>
          </a:p>
        </p:txBody>
      </p:sp>
      <p:sp>
        <p:nvSpPr>
          <p:cNvPr id="111" name="Shape 16"/>
          <p:cNvSpPr/>
          <p:nvPr/>
        </p:nvSpPr>
        <p:spPr>
          <a:xfrm>
            <a:off x="777240" y="4087367"/>
            <a:ext cx="4800601" cy="1051561"/>
          </a:xfrm>
          <a:prstGeom prst="roundRect">
            <a:avLst>
              <a:gd name="adj" fmla="val 6957"/>
            </a:avLst>
          </a:prstGeom>
          <a:solidFill>
            <a:srgbClr val="F4E5D1"/>
          </a:solidFill>
          <a:ln w="10160">
            <a:solidFill>
              <a:srgbClr val="C58B36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Shape 17"/>
          <p:cNvSpPr/>
          <p:nvPr/>
        </p:nvSpPr>
        <p:spPr>
          <a:xfrm>
            <a:off x="978408" y="4343400"/>
            <a:ext cx="384049" cy="384048"/>
          </a:xfrm>
          <a:prstGeom prst="ellipse">
            <a:avLst/>
          </a:prstGeom>
          <a:solidFill>
            <a:srgbClr val="C58B3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18"/>
          <p:cNvSpPr txBox="1"/>
          <p:nvPr/>
        </p:nvSpPr>
        <p:spPr>
          <a:xfrm>
            <a:off x="1527047" y="4297679"/>
            <a:ext cx="25603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defRPr b="1" sz="1358">
                <a:solidFill>
                  <a:srgbClr val="0A1F33"/>
                </a:solidFill>
              </a:defRPr>
            </a:lvl1pPr>
          </a:lstStyle>
          <a:p>
            <a:pPr/>
            <a:r>
              <a:t>Progress memory</a:t>
            </a:r>
          </a:p>
        </p:txBody>
      </p:sp>
      <p:sp>
        <p:nvSpPr>
          <p:cNvPr id="114" name="Text 19"/>
          <p:cNvSpPr txBox="1"/>
          <p:nvPr/>
        </p:nvSpPr>
        <p:spPr>
          <a:xfrm>
            <a:off x="1527047" y="4599432"/>
            <a:ext cx="3611881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Sessions, journals, streaks, trend charts, report images, and assessments saved locally.</a:t>
            </a:r>
          </a:p>
        </p:txBody>
      </p:sp>
      <p:sp>
        <p:nvSpPr>
          <p:cNvPr id="115" name="Shape 20"/>
          <p:cNvSpPr/>
          <p:nvPr/>
        </p:nvSpPr>
        <p:spPr>
          <a:xfrm>
            <a:off x="6172200" y="4087367"/>
            <a:ext cx="4800600" cy="1051561"/>
          </a:xfrm>
          <a:prstGeom prst="roundRect">
            <a:avLst>
              <a:gd name="adj" fmla="val 6957"/>
            </a:avLst>
          </a:prstGeom>
          <a:solidFill>
            <a:srgbClr val="ECE9F9"/>
          </a:solidFill>
          <a:ln w="10160">
            <a:solidFill>
              <a:srgbClr val="6657C9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Shape 21"/>
          <p:cNvSpPr/>
          <p:nvPr/>
        </p:nvSpPr>
        <p:spPr>
          <a:xfrm>
            <a:off x="6373367" y="4343400"/>
            <a:ext cx="384049" cy="384048"/>
          </a:xfrm>
          <a:prstGeom prst="ellipse">
            <a:avLst/>
          </a:prstGeom>
          <a:solidFill>
            <a:srgbClr val="6657C9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22"/>
          <p:cNvSpPr txBox="1"/>
          <p:nvPr/>
        </p:nvSpPr>
        <p:spPr>
          <a:xfrm>
            <a:off x="6922007" y="4297679"/>
            <a:ext cx="25603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defRPr b="1" sz="1358">
                <a:solidFill>
                  <a:srgbClr val="0A1F33"/>
                </a:solidFill>
              </a:defRPr>
            </a:lvl1pPr>
          </a:lstStyle>
          <a:p>
            <a:pPr/>
            <a:r>
              <a:t>Review output</a:t>
            </a:r>
          </a:p>
        </p:txBody>
      </p:sp>
      <p:sp>
        <p:nvSpPr>
          <p:cNvPr id="118" name="Text 23"/>
          <p:cNvSpPr txBox="1"/>
          <p:nvPr/>
        </p:nvSpPr>
        <p:spPr>
          <a:xfrm>
            <a:off x="6922007" y="4599432"/>
            <a:ext cx="3611881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Printable reports, clinician bundles, and validation exports when the user chooses.</a:t>
            </a:r>
          </a:p>
        </p:txBody>
      </p:sp>
      <p:sp>
        <p:nvSpPr>
          <p:cNvPr id="119" name="Shape 24"/>
          <p:cNvSpPr/>
          <p:nvPr/>
        </p:nvSpPr>
        <p:spPr>
          <a:xfrm>
            <a:off x="2542032" y="5806440"/>
            <a:ext cx="6583681" cy="438913"/>
          </a:xfrm>
          <a:prstGeom prst="roundRect">
            <a:avLst>
              <a:gd name="adj" fmla="val 12500"/>
            </a:avLst>
          </a:prstGeom>
          <a:solidFill>
            <a:srgbClr val="E6F4F4"/>
          </a:solidFill>
          <a:ln w="10160">
            <a:solidFill>
              <a:srgbClr val="1A9FA6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25"/>
          <p:cNvSpPr/>
          <p:nvPr/>
        </p:nvSpPr>
        <p:spPr>
          <a:xfrm>
            <a:off x="2542032" y="5806440"/>
            <a:ext cx="64009" cy="438913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26"/>
          <p:cNvSpPr txBox="1"/>
          <p:nvPr/>
        </p:nvSpPr>
        <p:spPr>
          <a:xfrm>
            <a:off x="2697479" y="5925311"/>
            <a:ext cx="6272786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1200">
                <a:solidFill>
                  <a:srgbClr val="0A1F33"/>
                </a:solidFill>
              </a:defRPr>
            </a:pPr>
            <a:r>
              <a:t>Primary URL: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mirror.iali.in</a:t>
            </a:r>
            <a:r>
              <a:t>  ·  Demo: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mirror.iali.in/try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USER JOURNEYS</a:t>
            </a:r>
          </a:p>
        </p:txBody>
      </p:sp>
      <p:sp>
        <p:nvSpPr>
          <p:cNvPr id="126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Two product surfaces, one measurement core</a:t>
            </a:r>
          </a:p>
        </p:txBody>
      </p:sp>
      <p:sp>
        <p:nvSpPr>
          <p:cNvPr id="127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28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130" name="Text 7"/>
          <p:cNvSpPr txBox="1"/>
          <p:nvPr/>
        </p:nvSpPr>
        <p:spPr>
          <a:xfrm>
            <a:off x="621792" y="1600200"/>
            <a:ext cx="9418320" cy="438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50391">
              <a:defRPr sz="1488">
                <a:solidFill>
                  <a:srgbClr val="4E5F6E"/>
                </a:solidFill>
              </a:defRPr>
            </a:lvl1pPr>
          </a:lstStyle>
          <a:p>
            <a:pPr/>
            <a:r>
              <a:t>The demo gets trust in seconds; the practice app builds longitudinal recovery evidence. Same tracker, different decision context.</a:t>
            </a:r>
          </a:p>
        </p:txBody>
      </p:sp>
      <p:sp>
        <p:nvSpPr>
          <p:cNvPr id="131" name="Shape 8"/>
          <p:cNvSpPr/>
          <p:nvPr/>
        </p:nvSpPr>
        <p:spPr>
          <a:xfrm>
            <a:off x="777240" y="2423160"/>
            <a:ext cx="5166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" name="Text 9"/>
          <p:cNvSpPr txBox="1"/>
          <p:nvPr/>
        </p:nvSpPr>
        <p:spPr>
          <a:xfrm>
            <a:off x="1051560" y="2697479"/>
            <a:ext cx="118872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/TRY DEMO</a:t>
            </a:r>
          </a:p>
        </p:txBody>
      </p:sp>
      <p:sp>
        <p:nvSpPr>
          <p:cNvPr id="133" name="Text 10"/>
          <p:cNvSpPr txBox="1"/>
          <p:nvPr/>
        </p:nvSpPr>
        <p:spPr>
          <a:xfrm>
            <a:off x="1051560" y="2944367"/>
            <a:ext cx="347472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defRPr b="1" sz="1940">
                <a:solidFill>
                  <a:srgbClr val="0A1F33"/>
                </a:solidFill>
              </a:defRPr>
            </a:lvl1pPr>
          </a:lstStyle>
          <a:p>
            <a:pPr/>
            <a:r>
              <a:t>Instant tracker proof</a:t>
            </a:r>
          </a:p>
        </p:txBody>
      </p:sp>
      <p:sp>
        <p:nvSpPr>
          <p:cNvPr id="134" name="Text 11"/>
          <p:cNvSpPr txBox="1"/>
          <p:nvPr/>
        </p:nvSpPr>
        <p:spPr>
          <a:xfrm>
            <a:off x="1051559" y="3511296"/>
            <a:ext cx="3977642" cy="1481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200">
                <a:solidFill>
                  <a:srgbClr val="4E5F6E"/>
                </a:solidFill>
              </a:defRPr>
            </a:pPr>
            <a:r>
              <a:t>478-point mesh color-coded by region</a:t>
            </a:r>
          </a:p>
          <a:p>
            <a:pPr>
              <a:defRPr sz="1200">
                <a:solidFill>
                  <a:srgbClr val="4E5F6E"/>
                </a:solidFill>
              </a:defRPr>
            </a:pPr>
            <a:r>
              <a:t>Ranked muscle activations with left/right bars</a:t>
            </a:r>
          </a:p>
          <a:p>
            <a:pPr>
              <a:defRPr sz="1200">
                <a:solidFill>
                  <a:srgbClr val="4E5F6E"/>
                </a:solidFill>
              </a:defRPr>
            </a:pPr>
            <a:r>
              <a:t>Live expression chip and head-position readout</a:t>
            </a:r>
          </a:p>
          <a:p>
            <a:pPr>
              <a:defRPr sz="1200">
                <a:solidFill>
                  <a:srgbClr val="4E5F6E"/>
                </a:solidFill>
              </a:defRPr>
            </a:pPr>
            <a:r>
              <a:t>No session machinery or scoring lock</a:t>
            </a:r>
          </a:p>
        </p:txBody>
      </p:sp>
      <p:sp>
        <p:nvSpPr>
          <p:cNvPr id="135" name="Shape 12"/>
          <p:cNvSpPr/>
          <p:nvPr/>
        </p:nvSpPr>
        <p:spPr>
          <a:xfrm>
            <a:off x="6263640" y="2423160"/>
            <a:ext cx="5166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" name="Text 13"/>
          <p:cNvSpPr txBox="1"/>
          <p:nvPr/>
        </p:nvSpPr>
        <p:spPr>
          <a:xfrm>
            <a:off x="6537959" y="2697479"/>
            <a:ext cx="210312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3B8B74"/>
                </a:solidFill>
              </a:defRPr>
            </a:lvl1pPr>
          </a:lstStyle>
          <a:p>
            <a:pPr/>
            <a:r>
              <a:t>FULL PRACTICE APP</a:t>
            </a:r>
          </a:p>
        </p:txBody>
      </p:sp>
      <p:sp>
        <p:nvSpPr>
          <p:cNvPr id="137" name="Text 14"/>
          <p:cNvSpPr txBox="1"/>
          <p:nvPr/>
        </p:nvSpPr>
        <p:spPr>
          <a:xfrm>
            <a:off x="6537959" y="2944367"/>
            <a:ext cx="393192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defRPr b="1" sz="1940">
                <a:solidFill>
                  <a:srgbClr val="0A1F33"/>
                </a:solidFill>
              </a:defRPr>
            </a:lvl1pPr>
          </a:lstStyle>
          <a:p>
            <a:pPr/>
            <a:r>
              <a:t>Measured recovery loop</a:t>
            </a:r>
          </a:p>
        </p:txBody>
      </p:sp>
      <p:sp>
        <p:nvSpPr>
          <p:cNvPr id="138" name="Text 15"/>
          <p:cNvSpPr txBox="1"/>
          <p:nvPr/>
        </p:nvSpPr>
        <p:spPr>
          <a:xfrm>
            <a:off x="6537959" y="3511296"/>
            <a:ext cx="4160521" cy="1481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200">
                <a:solidFill>
                  <a:srgbClr val="4E5F6E"/>
                </a:solidFill>
              </a:defRPr>
            </a:pPr>
            <a:r>
              <a:t>Camera setup → calibration → exercise hold → feedback</a:t>
            </a:r>
          </a:p>
          <a:p>
            <a:pPr>
              <a:defRPr sz="1200">
                <a:solidFill>
                  <a:srgbClr val="4E5F6E"/>
                </a:solidFill>
              </a:defRPr>
            </a:pPr>
            <a:r>
              <a:t>Movement profile, adaptive plan, comfort dosing</a:t>
            </a:r>
          </a:p>
          <a:p>
            <a:pPr>
              <a:defRPr sz="1200">
                <a:solidFill>
                  <a:srgbClr val="4E5F6E"/>
                </a:solidFill>
              </a:defRPr>
            </a:pPr>
            <a:r>
              <a:t>Assessment trend, journal, reports, local exports</a:t>
            </a:r>
          </a:p>
          <a:p>
            <a:pPr>
              <a:defRPr sz="1200">
                <a:solidFill>
                  <a:srgbClr val="4E5F6E"/>
                </a:solidFill>
              </a:defRPr>
            </a:pPr>
            <a:r>
              <a:t>Unscored guided practice still works when camera/model fails</a:t>
            </a:r>
          </a:p>
        </p:txBody>
      </p:sp>
      <p:sp>
        <p:nvSpPr>
          <p:cNvPr id="139" name="Shape 16"/>
          <p:cNvSpPr/>
          <p:nvPr/>
        </p:nvSpPr>
        <p:spPr>
          <a:xfrm>
            <a:off x="4828032" y="2066544"/>
            <a:ext cx="2542033" cy="274321"/>
          </a:xfrm>
          <a:prstGeom prst="roundRect">
            <a:avLst>
              <a:gd name="adj" fmla="val 16667"/>
            </a:avLst>
          </a:prstGeom>
          <a:solidFill>
            <a:srgbClr val="E6F4F4"/>
          </a:solidFill>
          <a:ln w="6350">
            <a:solidFill>
              <a:srgbClr val="1A9FA6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17"/>
          <p:cNvSpPr txBox="1"/>
          <p:nvPr/>
        </p:nvSpPr>
        <p:spPr>
          <a:xfrm>
            <a:off x="4919471" y="2139695"/>
            <a:ext cx="2359153" cy="9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420623">
              <a:defRPr b="1" sz="644">
                <a:solidFill>
                  <a:srgbClr val="1A9FA6"/>
                </a:solidFill>
              </a:defRPr>
            </a:lvl1pPr>
          </a:lstStyle>
          <a:p>
            <a:pPr/>
            <a:r>
              <a:t>shared measurement core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SYSTEM VIEW</a:t>
            </a:r>
          </a:p>
        </p:txBody>
      </p:sp>
      <p:sp>
        <p:nvSpPr>
          <p:cNvPr id="145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Architecture: local-first by construction</a:t>
            </a:r>
          </a:p>
        </p:txBody>
      </p:sp>
      <p:sp>
        <p:nvSpPr>
          <p:cNvPr id="146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47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149" name="Text 7"/>
          <p:cNvSpPr txBox="1"/>
          <p:nvPr/>
        </p:nvSpPr>
        <p:spPr>
          <a:xfrm>
            <a:off x="621791" y="1572767"/>
            <a:ext cx="1024128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The pipeline is intentionally boring in the right places: browser camera, on-device inference, custom scoring, IndexedDB, explicit export. No account. No practice-data backend.</a:t>
            </a:r>
          </a:p>
        </p:txBody>
      </p:sp>
      <p:sp>
        <p:nvSpPr>
          <p:cNvPr id="150" name="Shape 8"/>
          <p:cNvSpPr/>
          <p:nvPr/>
        </p:nvSpPr>
        <p:spPr>
          <a:xfrm>
            <a:off x="2084832" y="3657600"/>
            <a:ext cx="539497" cy="0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Shape 9"/>
          <p:cNvSpPr/>
          <p:nvPr/>
        </p:nvSpPr>
        <p:spPr>
          <a:xfrm>
            <a:off x="4187952" y="3657600"/>
            <a:ext cx="539497" cy="0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10"/>
          <p:cNvSpPr/>
          <p:nvPr/>
        </p:nvSpPr>
        <p:spPr>
          <a:xfrm>
            <a:off x="6291071" y="3657600"/>
            <a:ext cx="539497" cy="0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Shape 11"/>
          <p:cNvSpPr/>
          <p:nvPr/>
        </p:nvSpPr>
        <p:spPr>
          <a:xfrm>
            <a:off x="8394192" y="3657600"/>
            <a:ext cx="539497" cy="0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Shape 12"/>
          <p:cNvSpPr/>
          <p:nvPr/>
        </p:nvSpPr>
        <p:spPr>
          <a:xfrm>
            <a:off x="685800" y="2926079"/>
            <a:ext cx="1536192" cy="1444753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13"/>
          <p:cNvSpPr txBox="1"/>
          <p:nvPr/>
        </p:nvSpPr>
        <p:spPr>
          <a:xfrm>
            <a:off x="832103" y="3227832"/>
            <a:ext cx="1243585" cy="1024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100">
                <a:solidFill>
                  <a:srgbClr val="0A1F33"/>
                </a:solidFill>
              </a:defRPr>
            </a:pPr>
            <a:r>
              <a:t>Camera</a:t>
            </a:r>
          </a:p>
          <a:p>
            <a:pPr algn="ctr">
              <a:defRPr b="1" sz="1100">
                <a:solidFill>
                  <a:srgbClr val="0A1F33"/>
                </a:solidFill>
              </a:defRPr>
            </a:pPr>
            <a:r>
              <a:t>frame</a:t>
            </a:r>
          </a:p>
        </p:txBody>
      </p:sp>
      <p:sp>
        <p:nvSpPr>
          <p:cNvPr id="156" name="Text 14"/>
          <p:cNvSpPr txBox="1"/>
          <p:nvPr/>
        </p:nvSpPr>
        <p:spPr>
          <a:xfrm>
            <a:off x="640080" y="4553711"/>
            <a:ext cx="1627633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browser permission</a:t>
            </a:r>
          </a:p>
        </p:txBody>
      </p:sp>
      <p:sp>
        <p:nvSpPr>
          <p:cNvPr id="157" name="Shape 15"/>
          <p:cNvSpPr/>
          <p:nvPr/>
        </p:nvSpPr>
        <p:spPr>
          <a:xfrm>
            <a:off x="2788920" y="2926079"/>
            <a:ext cx="1536193" cy="1444753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16"/>
          <p:cNvSpPr txBox="1"/>
          <p:nvPr/>
        </p:nvSpPr>
        <p:spPr>
          <a:xfrm>
            <a:off x="2935223" y="3227832"/>
            <a:ext cx="1243585" cy="1024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100">
                <a:solidFill>
                  <a:srgbClr val="0A1F33"/>
                </a:solidFill>
              </a:defRPr>
            </a:pPr>
            <a:r>
              <a:t>MediaPipe</a:t>
            </a:r>
          </a:p>
          <a:p>
            <a:pPr algn="ctr">
              <a:defRPr b="1" sz="1100">
                <a:solidFill>
                  <a:srgbClr val="0A1F33"/>
                </a:solidFill>
              </a:defRPr>
            </a:pPr>
            <a:r>
              <a:t>Face Landmarker</a:t>
            </a:r>
          </a:p>
        </p:txBody>
      </p:sp>
      <p:sp>
        <p:nvSpPr>
          <p:cNvPr id="159" name="Text 17"/>
          <p:cNvSpPr txBox="1"/>
          <p:nvPr/>
        </p:nvSpPr>
        <p:spPr>
          <a:xfrm>
            <a:off x="2743200" y="4553711"/>
            <a:ext cx="1627633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478 mesh + blendshapes + pose</a:t>
            </a:r>
          </a:p>
        </p:txBody>
      </p:sp>
      <p:sp>
        <p:nvSpPr>
          <p:cNvPr id="160" name="Shape 18"/>
          <p:cNvSpPr/>
          <p:nvPr/>
        </p:nvSpPr>
        <p:spPr>
          <a:xfrm>
            <a:off x="4892040" y="2926079"/>
            <a:ext cx="1536193" cy="1444753"/>
          </a:xfrm>
          <a:prstGeom prst="roundRect">
            <a:avLst>
              <a:gd name="adj" fmla="val 5063"/>
            </a:avLst>
          </a:prstGeom>
          <a:solidFill>
            <a:srgbClr val="E6F4F4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19"/>
          <p:cNvSpPr txBox="1"/>
          <p:nvPr/>
        </p:nvSpPr>
        <p:spPr>
          <a:xfrm>
            <a:off x="5038344" y="3227832"/>
            <a:ext cx="1243584" cy="1024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100">
                <a:solidFill>
                  <a:srgbClr val="0A1F33"/>
                </a:solidFill>
              </a:defRPr>
            </a:pPr>
            <a:r>
              <a:t>Mirror</a:t>
            </a:r>
          </a:p>
          <a:p>
            <a:pPr algn="ctr">
              <a:defRPr b="1" sz="1100">
                <a:solidFill>
                  <a:srgbClr val="0A1F33"/>
                </a:solidFill>
              </a:defRPr>
            </a:pPr>
            <a:r>
              <a:t>scoring layer</a:t>
            </a:r>
          </a:p>
        </p:txBody>
      </p:sp>
      <p:sp>
        <p:nvSpPr>
          <p:cNvPr id="162" name="Text 20"/>
          <p:cNvSpPr txBox="1"/>
          <p:nvPr/>
        </p:nvSpPr>
        <p:spPr>
          <a:xfrm>
            <a:off x="4846320" y="4553711"/>
            <a:ext cx="1627633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calibration, gates, exercises</a:t>
            </a:r>
          </a:p>
        </p:txBody>
      </p:sp>
      <p:sp>
        <p:nvSpPr>
          <p:cNvPr id="163" name="Shape 21"/>
          <p:cNvSpPr/>
          <p:nvPr/>
        </p:nvSpPr>
        <p:spPr>
          <a:xfrm>
            <a:off x="6995159" y="2926079"/>
            <a:ext cx="1536193" cy="1444753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22"/>
          <p:cNvSpPr txBox="1"/>
          <p:nvPr/>
        </p:nvSpPr>
        <p:spPr>
          <a:xfrm>
            <a:off x="7141464" y="3227832"/>
            <a:ext cx="1243585" cy="1024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100">
                <a:solidFill>
                  <a:srgbClr val="0A1F33"/>
                </a:solidFill>
              </a:defRPr>
            </a:pPr>
            <a:r>
              <a:t>IndexedDB</a:t>
            </a:r>
          </a:p>
          <a:p>
            <a:pPr algn="ctr">
              <a:defRPr b="1" sz="1100">
                <a:solidFill>
                  <a:srgbClr val="0A1F33"/>
                </a:solidFill>
              </a:defRPr>
            </a:pPr>
            <a:r>
              <a:t>local memory</a:t>
            </a:r>
          </a:p>
        </p:txBody>
      </p:sp>
      <p:sp>
        <p:nvSpPr>
          <p:cNvPr id="165" name="Text 23"/>
          <p:cNvSpPr txBox="1"/>
          <p:nvPr/>
        </p:nvSpPr>
        <p:spPr>
          <a:xfrm>
            <a:off x="6949440" y="4553711"/>
            <a:ext cx="1627633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sessions, images, profiles</a:t>
            </a:r>
          </a:p>
        </p:txBody>
      </p:sp>
      <p:sp>
        <p:nvSpPr>
          <p:cNvPr id="166" name="Shape 24"/>
          <p:cNvSpPr/>
          <p:nvPr/>
        </p:nvSpPr>
        <p:spPr>
          <a:xfrm>
            <a:off x="9098280" y="2926079"/>
            <a:ext cx="1536193" cy="1444753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25"/>
          <p:cNvSpPr txBox="1"/>
          <p:nvPr/>
        </p:nvSpPr>
        <p:spPr>
          <a:xfrm>
            <a:off x="9244583" y="3227832"/>
            <a:ext cx="1243585" cy="1024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100">
                <a:solidFill>
                  <a:srgbClr val="0A1F33"/>
                </a:solidFill>
              </a:defRPr>
            </a:pPr>
            <a:r>
              <a:t>User-chosen</a:t>
            </a:r>
          </a:p>
          <a:p>
            <a:pPr algn="ctr">
              <a:defRPr b="1" sz="1100">
                <a:solidFill>
                  <a:srgbClr val="0A1F33"/>
                </a:solidFill>
              </a:defRPr>
            </a:pPr>
            <a:r>
              <a:t>report/export</a:t>
            </a:r>
          </a:p>
        </p:txBody>
      </p:sp>
      <p:sp>
        <p:nvSpPr>
          <p:cNvPr id="168" name="Text 26"/>
          <p:cNvSpPr txBox="1"/>
          <p:nvPr/>
        </p:nvSpPr>
        <p:spPr>
          <a:xfrm>
            <a:off x="9052559" y="4553711"/>
            <a:ext cx="1627633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PDF, JSONL, backup</a:t>
            </a:r>
          </a:p>
        </p:txBody>
      </p:sp>
      <p:sp>
        <p:nvSpPr>
          <p:cNvPr id="169" name="Shape 27"/>
          <p:cNvSpPr/>
          <p:nvPr/>
        </p:nvSpPr>
        <p:spPr>
          <a:xfrm>
            <a:off x="1417319" y="5577840"/>
            <a:ext cx="9052561" cy="530353"/>
          </a:xfrm>
          <a:prstGeom prst="roundRect">
            <a:avLst>
              <a:gd name="adj" fmla="val 10345"/>
            </a:avLst>
          </a:prstGeom>
          <a:solidFill>
            <a:srgbClr val="FBFAF7"/>
          </a:solidFill>
          <a:ln w="10160">
            <a:solidFill>
              <a:srgbClr val="123047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Shape 28"/>
          <p:cNvSpPr/>
          <p:nvPr/>
        </p:nvSpPr>
        <p:spPr>
          <a:xfrm>
            <a:off x="1417319" y="5577840"/>
            <a:ext cx="64009" cy="530353"/>
          </a:xfrm>
          <a:prstGeom prst="rect">
            <a:avLst/>
          </a:prstGeom>
          <a:solidFill>
            <a:srgbClr val="123047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29"/>
          <p:cNvSpPr txBox="1"/>
          <p:nvPr/>
        </p:nvSpPr>
        <p:spPr>
          <a:xfrm>
            <a:off x="1572767" y="5696711"/>
            <a:ext cx="8741665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0A1F33"/>
                </a:solidFill>
              </a:defRPr>
            </a:lvl1pPr>
          </a:lstStyle>
          <a:p>
            <a:pPr/>
            <a:r>
              <a:t>Worker-backed detector where supported, main-thread fallback where not.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MODEL BOUNDARY</a:t>
            </a:r>
          </a:p>
        </p:txBody>
      </p:sp>
      <p:sp>
        <p:nvSpPr>
          <p:cNvPr id="176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The model does geometry; Mirror does judgment</a:t>
            </a:r>
          </a:p>
        </p:txBody>
      </p:sp>
      <p:sp>
        <p:nvSpPr>
          <p:cNvPr id="177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78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180" name="Text 7"/>
          <p:cNvSpPr txBox="1"/>
          <p:nvPr/>
        </p:nvSpPr>
        <p:spPr>
          <a:xfrm>
            <a:off x="621791" y="1572767"/>
            <a:ext cx="10058401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This distinction matters. MediaPipe is the sensor; Mirror is the scoring product. Mixing those up would make the deck sound like demo-day fog machine nonsense.</a:t>
            </a:r>
          </a:p>
        </p:txBody>
      </p:sp>
      <p:sp>
        <p:nvSpPr>
          <p:cNvPr id="181" name="Shape 8"/>
          <p:cNvSpPr/>
          <p:nvPr/>
        </p:nvSpPr>
        <p:spPr>
          <a:xfrm>
            <a:off x="749808" y="2487167"/>
            <a:ext cx="5047489" cy="3090673"/>
          </a:xfrm>
          <a:prstGeom prst="roundRect">
            <a:avLst>
              <a:gd name="adj" fmla="val 2367"/>
            </a:avLst>
          </a:prstGeom>
          <a:solidFill>
            <a:srgbClr val="E8F0F7"/>
          </a:solidFill>
          <a:ln w="10160">
            <a:solidFill>
              <a:srgbClr val="C9D8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9"/>
          <p:cNvSpPr txBox="1"/>
          <p:nvPr/>
        </p:nvSpPr>
        <p:spPr>
          <a:xfrm>
            <a:off x="1024127" y="2770632"/>
            <a:ext cx="2194562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23047"/>
                </a:solidFill>
              </a:defRPr>
            </a:lvl1pPr>
          </a:lstStyle>
          <a:p>
            <a:pPr/>
            <a:r>
              <a:t>MEDIAPIPE PROVIDES</a:t>
            </a:r>
          </a:p>
        </p:txBody>
      </p:sp>
      <p:sp>
        <p:nvSpPr>
          <p:cNvPr id="183" name="Text 10"/>
          <p:cNvSpPr txBox="1"/>
          <p:nvPr/>
        </p:nvSpPr>
        <p:spPr>
          <a:xfrm>
            <a:off x="1051560" y="3246120"/>
            <a:ext cx="1143001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700">
                <a:solidFill>
                  <a:srgbClr val="1A9FA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478</a:t>
            </a:r>
          </a:p>
        </p:txBody>
      </p:sp>
      <p:sp>
        <p:nvSpPr>
          <p:cNvPr id="184" name="Text 11"/>
          <p:cNvSpPr txBox="1"/>
          <p:nvPr/>
        </p:nvSpPr>
        <p:spPr>
          <a:xfrm>
            <a:off x="1051560" y="3685032"/>
            <a:ext cx="114300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3D landmarks</a:t>
            </a:r>
          </a:p>
        </p:txBody>
      </p:sp>
      <p:sp>
        <p:nvSpPr>
          <p:cNvPr id="185" name="Text 12"/>
          <p:cNvSpPr txBox="1"/>
          <p:nvPr/>
        </p:nvSpPr>
        <p:spPr>
          <a:xfrm>
            <a:off x="2578607" y="3246120"/>
            <a:ext cx="1920241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32104">
              <a:defRPr b="1" sz="2457">
                <a:solidFill>
                  <a:srgbClr val="1A9FA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blendshapes</a:t>
            </a:r>
          </a:p>
        </p:txBody>
      </p:sp>
      <p:sp>
        <p:nvSpPr>
          <p:cNvPr id="186" name="Text 13"/>
          <p:cNvSpPr txBox="1"/>
          <p:nvPr/>
        </p:nvSpPr>
        <p:spPr>
          <a:xfrm>
            <a:off x="2578607" y="3685032"/>
            <a:ext cx="192024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blink, brow, smile, sneer</a:t>
            </a:r>
          </a:p>
        </p:txBody>
      </p:sp>
      <p:sp>
        <p:nvSpPr>
          <p:cNvPr id="187" name="Text 14"/>
          <p:cNvSpPr txBox="1"/>
          <p:nvPr/>
        </p:nvSpPr>
        <p:spPr>
          <a:xfrm>
            <a:off x="1051560" y="4343400"/>
            <a:ext cx="2011679" cy="420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700">
                <a:solidFill>
                  <a:srgbClr val="1A9FA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pose</a:t>
            </a:r>
          </a:p>
        </p:txBody>
      </p:sp>
      <p:sp>
        <p:nvSpPr>
          <p:cNvPr id="188" name="Text 15"/>
          <p:cNvSpPr txBox="1"/>
          <p:nvPr/>
        </p:nvSpPr>
        <p:spPr>
          <a:xfrm>
            <a:off x="1051560" y="4782311"/>
            <a:ext cx="2011679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facial transform matrix</a:t>
            </a:r>
          </a:p>
        </p:txBody>
      </p:sp>
      <p:sp>
        <p:nvSpPr>
          <p:cNvPr id="189" name="Text 16"/>
          <p:cNvSpPr txBox="1"/>
          <p:nvPr/>
        </p:nvSpPr>
        <p:spPr>
          <a:xfrm>
            <a:off x="3063239" y="4443984"/>
            <a:ext cx="224028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Loaded on-device with GPU delegate; inference uses Face Landmarker 0.10.21 runtime.</a:t>
            </a:r>
          </a:p>
        </p:txBody>
      </p:sp>
      <p:sp>
        <p:nvSpPr>
          <p:cNvPr id="190" name="Shape 17"/>
          <p:cNvSpPr/>
          <p:nvPr/>
        </p:nvSpPr>
        <p:spPr>
          <a:xfrm>
            <a:off x="6400800" y="2487167"/>
            <a:ext cx="5047489" cy="3090673"/>
          </a:xfrm>
          <a:prstGeom prst="roundRect">
            <a:avLst>
              <a:gd name="adj" fmla="val 2367"/>
            </a:avLst>
          </a:prstGeom>
          <a:solidFill>
            <a:srgbClr val="E6F4F4"/>
          </a:solidFill>
          <a:ln w="10160">
            <a:solidFill>
              <a:srgbClr val="BFE4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18"/>
          <p:cNvSpPr txBox="1"/>
          <p:nvPr/>
        </p:nvSpPr>
        <p:spPr>
          <a:xfrm>
            <a:off x="6675119" y="2770632"/>
            <a:ext cx="146304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MIRROR ADDS</a:t>
            </a:r>
          </a:p>
        </p:txBody>
      </p:sp>
      <p:sp>
        <p:nvSpPr>
          <p:cNvPr id="192" name="Text 19"/>
          <p:cNvSpPr txBox="1"/>
          <p:nvPr/>
        </p:nvSpPr>
        <p:spPr>
          <a:xfrm>
            <a:off x="6720840" y="3182111"/>
            <a:ext cx="3886201" cy="1783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300">
                <a:solidFill>
                  <a:srgbClr val="4E5F6E"/>
                </a:solidFill>
              </a:defRPr>
            </a:pPr>
            <a:r>
              <a:t>Neutral calibration and noise floors</a:t>
            </a:r>
          </a:p>
          <a:p>
            <a:pPr>
              <a:defRPr sz="1300">
                <a:solidFill>
                  <a:srgbClr val="4E5F6E"/>
                </a:solidFill>
              </a:defRPr>
            </a:pPr>
            <a:r>
              <a:t>Pose-normalized face-local scoring</a:t>
            </a:r>
          </a:p>
          <a:p>
            <a:pPr>
              <a:defRPr sz="1300">
                <a:solidFill>
                  <a:srgbClr val="4E5F6E"/>
                </a:solidFill>
              </a:defRPr>
            </a:pPr>
            <a:r>
              <a:t>Exercise-specific directional logic</a:t>
            </a:r>
          </a:p>
          <a:p>
            <a:pPr>
              <a:defRPr sz="1300">
                <a:solidFill>
                  <a:srgbClr val="4E5F6E"/>
                </a:solidFill>
              </a:defRPr>
            </a:pPr>
            <a:r>
              <a:t>Affected-side progress against baselines</a:t>
            </a:r>
          </a:p>
          <a:p>
            <a:pPr>
              <a:defRPr sz="1300">
                <a:solidFill>
                  <a:srgbClr val="4E5F6E"/>
                </a:solidFill>
              </a:defRPr>
            </a:pPr>
            <a:r>
              <a:t>Reports, diagnostics, safety copy</a:t>
            </a:r>
          </a:p>
        </p:txBody>
      </p:sp>
      <p:sp>
        <p:nvSpPr>
          <p:cNvPr id="193" name="Shape 20"/>
          <p:cNvSpPr/>
          <p:nvPr/>
        </p:nvSpPr>
        <p:spPr>
          <a:xfrm>
            <a:off x="5870447" y="3977640"/>
            <a:ext cx="457201" cy="1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CALIBRATION</a:t>
            </a:r>
          </a:p>
        </p:txBody>
      </p:sp>
      <p:sp>
        <p:nvSpPr>
          <p:cNvPr id="198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defRPr b="1" sz="2813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Capture trust stack: score only when the data deserves it</a:t>
            </a:r>
          </a:p>
        </p:txBody>
      </p:sp>
      <p:sp>
        <p:nvSpPr>
          <p:cNvPr id="199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0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202" name="Text 7"/>
          <p:cNvSpPr txBox="1"/>
          <p:nvPr/>
        </p:nvSpPr>
        <p:spPr>
          <a:xfrm>
            <a:off x="621791" y="1572767"/>
            <a:ext cx="10058401" cy="51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Mirror is conservative by design. If evidence is weak, the better answer is silence or coaching—not a confident-looking number wearing a cheap suit.</a:t>
            </a:r>
          </a:p>
        </p:txBody>
      </p:sp>
      <p:sp>
        <p:nvSpPr>
          <p:cNvPr id="203" name="Shape 8"/>
          <p:cNvSpPr/>
          <p:nvPr/>
        </p:nvSpPr>
        <p:spPr>
          <a:xfrm>
            <a:off x="960119" y="2359151"/>
            <a:ext cx="9966961" cy="60350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9"/>
          <p:cNvSpPr txBox="1"/>
          <p:nvPr/>
        </p:nvSpPr>
        <p:spPr>
          <a:xfrm>
            <a:off x="1207008" y="2532888"/>
            <a:ext cx="329185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b="1" sz="900">
                <a:solidFill>
                  <a:srgbClr val="1A9FA6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05" name="Text 10"/>
          <p:cNvSpPr txBox="1"/>
          <p:nvPr/>
        </p:nvSpPr>
        <p:spPr>
          <a:xfrm>
            <a:off x="1737360" y="2496311"/>
            <a:ext cx="219456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defRPr b="1" sz="1358">
                <a:solidFill>
                  <a:srgbClr val="0A1F33"/>
                </a:solidFill>
              </a:defRPr>
            </a:lvl1pPr>
          </a:lstStyle>
          <a:p>
            <a:pPr/>
            <a:r>
              <a:t>Setup quality</a:t>
            </a:r>
          </a:p>
        </p:txBody>
      </p:sp>
      <p:sp>
        <p:nvSpPr>
          <p:cNvPr id="206" name="Text 11"/>
          <p:cNvSpPr txBox="1"/>
          <p:nvPr/>
        </p:nvSpPr>
        <p:spPr>
          <a:xfrm>
            <a:off x="3931920" y="2514600"/>
            <a:ext cx="62179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face presence · lighting · distance · FPS · stability · glare risk</a:t>
            </a:r>
          </a:p>
        </p:txBody>
      </p:sp>
      <p:sp>
        <p:nvSpPr>
          <p:cNvPr id="207" name="Shape 12"/>
          <p:cNvSpPr/>
          <p:nvPr/>
        </p:nvSpPr>
        <p:spPr>
          <a:xfrm>
            <a:off x="960119" y="3163823"/>
            <a:ext cx="9966961" cy="603505"/>
          </a:xfrm>
          <a:prstGeom prst="roundRect">
            <a:avLst>
              <a:gd name="adj" fmla="val 12121"/>
            </a:avLst>
          </a:prstGeom>
          <a:solidFill>
            <a:srgbClr val="FBFAF7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13"/>
          <p:cNvSpPr txBox="1"/>
          <p:nvPr/>
        </p:nvSpPr>
        <p:spPr>
          <a:xfrm>
            <a:off x="1207008" y="3337559"/>
            <a:ext cx="329185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b="1" sz="900">
                <a:solidFill>
                  <a:srgbClr val="1A9FA6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09" name="Text 14"/>
          <p:cNvSpPr txBox="1"/>
          <p:nvPr/>
        </p:nvSpPr>
        <p:spPr>
          <a:xfrm>
            <a:off x="1737360" y="3300984"/>
            <a:ext cx="219456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defRPr b="1" sz="1358">
                <a:solidFill>
                  <a:srgbClr val="0A1F33"/>
                </a:solidFill>
              </a:defRPr>
            </a:lvl1pPr>
          </a:lstStyle>
          <a:p>
            <a:pPr/>
            <a:r>
              <a:t>Neutral calibration</a:t>
            </a:r>
          </a:p>
        </p:txBody>
      </p:sp>
      <p:sp>
        <p:nvSpPr>
          <p:cNvPr id="210" name="Text 15"/>
          <p:cNvSpPr txBox="1"/>
          <p:nvPr/>
        </p:nvSpPr>
        <p:spPr>
          <a:xfrm>
            <a:off x="3931920" y="3319271"/>
            <a:ext cx="62179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24 stable frames · per-landmark jitter · neutral pose matrix</a:t>
            </a:r>
          </a:p>
        </p:txBody>
      </p:sp>
      <p:sp>
        <p:nvSpPr>
          <p:cNvPr id="211" name="Shape 16"/>
          <p:cNvSpPr/>
          <p:nvPr/>
        </p:nvSpPr>
        <p:spPr>
          <a:xfrm>
            <a:off x="960119" y="3968496"/>
            <a:ext cx="9966961" cy="60350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17"/>
          <p:cNvSpPr txBox="1"/>
          <p:nvPr/>
        </p:nvSpPr>
        <p:spPr>
          <a:xfrm>
            <a:off x="1207008" y="4142232"/>
            <a:ext cx="329185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b="1" sz="900">
                <a:solidFill>
                  <a:srgbClr val="1A9FA6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13" name="Text 18"/>
          <p:cNvSpPr txBox="1"/>
          <p:nvPr/>
        </p:nvSpPr>
        <p:spPr>
          <a:xfrm>
            <a:off x="1737360" y="4105655"/>
            <a:ext cx="219456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defRPr b="1" sz="1358">
                <a:solidFill>
                  <a:srgbClr val="0A1F33"/>
                </a:solidFill>
              </a:defRPr>
            </a:lvl1pPr>
          </a:lstStyle>
          <a:p>
            <a:pPr/>
            <a:r>
              <a:t>Hold-frame gates</a:t>
            </a:r>
          </a:p>
        </p:txBody>
      </p:sp>
      <p:sp>
        <p:nvSpPr>
          <p:cNvPr id="214" name="Text 19"/>
          <p:cNvSpPr txBox="1"/>
          <p:nvPr/>
        </p:nvSpPr>
        <p:spPr>
          <a:xfrm>
            <a:off x="3931920" y="4123944"/>
            <a:ext cx="62179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head-pose deviation &lt; 0.20 rad · movement above noise</a:t>
            </a:r>
          </a:p>
        </p:txBody>
      </p:sp>
      <p:sp>
        <p:nvSpPr>
          <p:cNvPr id="215" name="Shape 20"/>
          <p:cNvSpPr/>
          <p:nvPr/>
        </p:nvSpPr>
        <p:spPr>
          <a:xfrm>
            <a:off x="960119" y="4773167"/>
            <a:ext cx="9966961" cy="603505"/>
          </a:xfrm>
          <a:prstGeom prst="roundRect">
            <a:avLst>
              <a:gd name="adj" fmla="val 12121"/>
            </a:avLst>
          </a:prstGeom>
          <a:solidFill>
            <a:srgbClr val="FBFAF7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21"/>
          <p:cNvSpPr txBox="1"/>
          <p:nvPr/>
        </p:nvSpPr>
        <p:spPr>
          <a:xfrm>
            <a:off x="1207008" y="4946903"/>
            <a:ext cx="329185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b="1" sz="900">
                <a:solidFill>
                  <a:srgbClr val="1A9FA6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17" name="Text 22"/>
          <p:cNvSpPr txBox="1"/>
          <p:nvPr/>
        </p:nvSpPr>
        <p:spPr>
          <a:xfrm>
            <a:off x="1737360" y="4910328"/>
            <a:ext cx="219456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defRPr b="1" sz="1358">
                <a:solidFill>
                  <a:srgbClr val="0A1F33"/>
                </a:solidFill>
              </a:defRPr>
            </a:lvl1pPr>
          </a:lstStyle>
          <a:p>
            <a:pPr/>
            <a:r>
              <a:t>Scoring diagnostics</a:t>
            </a:r>
          </a:p>
        </p:txBody>
      </p:sp>
      <p:sp>
        <p:nvSpPr>
          <p:cNvPr id="218" name="Text 23"/>
          <p:cNvSpPr txBox="1"/>
          <p:nvPr/>
        </p:nvSpPr>
        <p:spPr>
          <a:xfrm>
            <a:off x="3931920" y="4928615"/>
            <a:ext cx="62179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drop reasons · rejected frames · capture flags · safety notes</a:t>
            </a:r>
          </a:p>
        </p:txBody>
      </p:sp>
      <p:sp>
        <p:nvSpPr>
          <p:cNvPr id="219" name="Shape 24"/>
          <p:cNvSpPr/>
          <p:nvPr/>
        </p:nvSpPr>
        <p:spPr>
          <a:xfrm>
            <a:off x="960119" y="5806440"/>
            <a:ext cx="9966961" cy="402337"/>
          </a:xfrm>
          <a:prstGeom prst="roundRect">
            <a:avLst>
              <a:gd name="adj" fmla="val 13636"/>
            </a:avLst>
          </a:prstGeom>
          <a:solidFill>
            <a:srgbClr val="E6F4F4"/>
          </a:solidFill>
          <a:ln w="10160">
            <a:solidFill>
              <a:srgbClr val="1A9FA6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Shape 25"/>
          <p:cNvSpPr/>
          <p:nvPr/>
        </p:nvSpPr>
        <p:spPr>
          <a:xfrm>
            <a:off x="960119" y="5806440"/>
            <a:ext cx="64009" cy="402337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26"/>
          <p:cNvSpPr txBox="1"/>
          <p:nvPr/>
        </p:nvSpPr>
        <p:spPr>
          <a:xfrm>
            <a:off x="1124711" y="5943600"/>
            <a:ext cx="9656066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0A1F33"/>
                </a:solidFill>
              </a:defRPr>
            </a:lvl1pPr>
          </a:lstStyle>
          <a:p>
            <a:pPr/>
            <a:r>
              <a:t>Calibration: CALIBRATION_FRAMES = 24, stability epsilon = 0.006, center offset &lt; 0.12, eye-line tilt &lt; 0.12 rad.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ALGORITHM</a:t>
            </a:r>
          </a:p>
        </p:txBody>
      </p:sp>
      <p:sp>
        <p:nvSpPr>
          <p:cNvPr id="226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777240">
              <a:defRPr b="1" sz="2465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Updated normalization: measure the face, not the camera wobble</a:t>
            </a:r>
          </a:p>
        </p:txBody>
      </p:sp>
      <p:sp>
        <p:nvSpPr>
          <p:cNvPr id="227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28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230" name="Text 7"/>
          <p:cNvSpPr txBox="1"/>
          <p:nvPr/>
        </p:nvSpPr>
        <p:spPr>
          <a:xfrm>
            <a:off x="621792" y="1572767"/>
            <a:ext cx="996696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The scorer now prefers MediaPipe's 3D facial transformation matrix, converting landmarks into a face-local coordinate frame before comparing movement.</a:t>
            </a:r>
          </a:p>
        </p:txBody>
      </p:sp>
      <p:sp>
        <p:nvSpPr>
          <p:cNvPr id="231" name="Shape 8"/>
          <p:cNvSpPr/>
          <p:nvPr/>
        </p:nvSpPr>
        <p:spPr>
          <a:xfrm>
            <a:off x="868680" y="2423160"/>
            <a:ext cx="4160521" cy="3200401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" name="Text 9"/>
          <p:cNvSpPr txBox="1"/>
          <p:nvPr/>
        </p:nvSpPr>
        <p:spPr>
          <a:xfrm>
            <a:off x="1143000" y="2697479"/>
            <a:ext cx="914400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C58B36"/>
                </a:solidFill>
              </a:defRPr>
            </a:lvl1pPr>
          </a:lstStyle>
          <a:p>
            <a:pPr/>
            <a:r>
              <a:t>BEFORE</a:t>
            </a:r>
          </a:p>
        </p:txBody>
      </p:sp>
      <p:sp>
        <p:nvSpPr>
          <p:cNvPr id="233" name="Text 10"/>
          <p:cNvSpPr txBox="1"/>
          <p:nvPr/>
        </p:nvSpPr>
        <p:spPr>
          <a:xfrm>
            <a:off x="1143000" y="2944367"/>
            <a:ext cx="27432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768095">
              <a:defRPr b="1" sz="1512">
                <a:solidFill>
                  <a:srgbClr val="0A1F33"/>
                </a:solidFill>
              </a:defRPr>
            </a:lvl1pPr>
          </a:lstStyle>
          <a:p>
            <a:pPr/>
            <a:r>
              <a:t>Screen-space landmarks</a:t>
            </a:r>
          </a:p>
        </p:txBody>
      </p:sp>
      <p:sp>
        <p:nvSpPr>
          <p:cNvPr id="234" name="Shape 11"/>
          <p:cNvSpPr/>
          <p:nvPr/>
        </p:nvSpPr>
        <p:spPr>
          <a:xfrm>
            <a:off x="1874519" y="3858768"/>
            <a:ext cx="1645922" cy="347473"/>
          </a:xfrm>
          <a:prstGeom prst="line">
            <a:avLst/>
          </a:prstGeom>
          <a:ln w="25400">
            <a:solidFill>
              <a:srgbClr val="C58B3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Shape 12"/>
          <p:cNvSpPr/>
          <p:nvPr/>
        </p:nvSpPr>
        <p:spPr>
          <a:xfrm>
            <a:off x="2633472" y="3429000"/>
            <a:ext cx="960120" cy="1234441"/>
          </a:xfrm>
          <a:prstGeom prst="ellipse">
            <a:avLst/>
          </a:prstGeom>
          <a:solidFill>
            <a:srgbClr val="F4E5D1">
              <a:alpha val="85000"/>
            </a:srgbClr>
          </a:solidFill>
          <a:ln w="12700">
            <a:solidFill>
              <a:srgbClr val="C58B3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13"/>
          <p:cNvSpPr txBox="1"/>
          <p:nvPr/>
        </p:nvSpPr>
        <p:spPr>
          <a:xfrm>
            <a:off x="1234439" y="4919471"/>
            <a:ext cx="333756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1100">
                <a:solidFill>
                  <a:srgbClr val="4E5F6E"/>
                </a:solidFill>
              </a:defRPr>
            </a:lvl1pPr>
          </a:lstStyle>
          <a:p>
            <a:pPr/>
            <a:r>
              <a:t>Head tilt, distance, and yaw can masquerade as movement.</a:t>
            </a:r>
          </a:p>
        </p:txBody>
      </p:sp>
      <p:sp>
        <p:nvSpPr>
          <p:cNvPr id="237" name="Shape 14"/>
          <p:cNvSpPr/>
          <p:nvPr/>
        </p:nvSpPr>
        <p:spPr>
          <a:xfrm>
            <a:off x="5285232" y="3968496"/>
            <a:ext cx="859537" cy="1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Shape 15"/>
          <p:cNvSpPr/>
          <p:nvPr/>
        </p:nvSpPr>
        <p:spPr>
          <a:xfrm>
            <a:off x="6419088" y="2423160"/>
            <a:ext cx="4526280" cy="3200401"/>
          </a:xfrm>
          <a:prstGeom prst="roundRect">
            <a:avLst>
              <a:gd name="adj" fmla="val 2286"/>
            </a:avLst>
          </a:prstGeom>
          <a:solidFill>
            <a:srgbClr val="E6F4F4"/>
          </a:solidFill>
          <a:ln w="10160">
            <a:solidFill>
              <a:srgbClr val="BFE4E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" name="Text 16"/>
          <p:cNvSpPr txBox="1"/>
          <p:nvPr/>
        </p:nvSpPr>
        <p:spPr>
          <a:xfrm>
            <a:off x="6693407" y="2697479"/>
            <a:ext cx="82296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AFTER</a:t>
            </a:r>
          </a:p>
        </p:txBody>
      </p:sp>
      <p:sp>
        <p:nvSpPr>
          <p:cNvPr id="240" name="Text 17"/>
          <p:cNvSpPr txBox="1"/>
          <p:nvPr/>
        </p:nvSpPr>
        <p:spPr>
          <a:xfrm>
            <a:off x="6693407" y="2944367"/>
            <a:ext cx="2560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768095">
              <a:defRPr b="1" sz="1512">
                <a:solidFill>
                  <a:srgbClr val="0A1F33"/>
                </a:solidFill>
              </a:defRPr>
            </a:lvl1pPr>
          </a:lstStyle>
          <a:p>
            <a:pPr/>
            <a:r>
              <a:t>Face-local frame</a:t>
            </a:r>
          </a:p>
        </p:txBody>
      </p:sp>
      <p:sp>
        <p:nvSpPr>
          <p:cNvPr id="241" name="Shape 18"/>
          <p:cNvSpPr/>
          <p:nvPr/>
        </p:nvSpPr>
        <p:spPr>
          <a:xfrm>
            <a:off x="8119871" y="3346703"/>
            <a:ext cx="1051561" cy="1298449"/>
          </a:xfrm>
          <a:prstGeom prst="ellipse">
            <a:avLst/>
          </a:prstGeom>
          <a:solidFill>
            <a:srgbClr val="FFFFFF">
              <a:alpha val="95000"/>
            </a:srgbClr>
          </a:solidFill>
          <a:ln w="15240">
            <a:solidFill>
              <a:srgbClr val="1A9F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Shape 19"/>
          <p:cNvSpPr/>
          <p:nvPr/>
        </p:nvSpPr>
        <p:spPr>
          <a:xfrm>
            <a:off x="7845552" y="4005071"/>
            <a:ext cx="1600201" cy="1"/>
          </a:xfrm>
          <a:prstGeom prst="line">
            <a:avLst/>
          </a:prstGeom>
          <a:ln w="15240">
            <a:solidFill>
              <a:srgbClr val="1A9F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Shape 20"/>
          <p:cNvSpPr/>
          <p:nvPr/>
        </p:nvSpPr>
        <p:spPr>
          <a:xfrm>
            <a:off x="8641080" y="3346703"/>
            <a:ext cx="1" cy="1298449"/>
          </a:xfrm>
          <a:prstGeom prst="line">
            <a:avLst/>
          </a:prstGeom>
          <a:ln w="15240">
            <a:solidFill>
              <a:srgbClr val="1A9F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21"/>
          <p:cNvSpPr txBox="1"/>
          <p:nvPr/>
        </p:nvSpPr>
        <p:spPr>
          <a:xfrm>
            <a:off x="6766559" y="4754879"/>
            <a:ext cx="3520441" cy="713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000">
                <a:solidFill>
                  <a:srgbClr val="4E5F6E"/>
                </a:solidFill>
              </a:defRPr>
            </a:pPr>
            <a:r>
              <a:t>Translate to nose tip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Apply inverse pose rotation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Scale by 3D inter-ocular distance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Residual eye-line roll correction</a:t>
            </a:r>
          </a:p>
        </p:txBody>
      </p:sp>
      <p:sp>
        <p:nvSpPr>
          <p:cNvPr id="245" name="Shape 22"/>
          <p:cNvSpPr/>
          <p:nvPr/>
        </p:nvSpPr>
        <p:spPr>
          <a:xfrm>
            <a:off x="1188719" y="5989320"/>
            <a:ext cx="9601201" cy="347473"/>
          </a:xfrm>
          <a:prstGeom prst="roundRect">
            <a:avLst>
              <a:gd name="adj" fmla="val 15789"/>
            </a:avLst>
          </a:prstGeom>
          <a:solidFill>
            <a:srgbClr val="E6F4F4"/>
          </a:solidFill>
          <a:ln w="10160">
            <a:solidFill>
              <a:srgbClr val="1A9FA6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Shape 23"/>
          <p:cNvSpPr/>
          <p:nvPr/>
        </p:nvSpPr>
        <p:spPr>
          <a:xfrm>
            <a:off x="1188719" y="5989320"/>
            <a:ext cx="64009" cy="347473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 24"/>
          <p:cNvSpPr txBox="1"/>
          <p:nvPr/>
        </p:nvSpPr>
        <p:spPr>
          <a:xfrm>
            <a:off x="1344167" y="6080760"/>
            <a:ext cx="9290306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365760">
              <a:defRPr sz="1080">
                <a:solidFill>
                  <a:srgbClr val="0A1F33"/>
                </a:solidFill>
              </a:defRPr>
            </a:lvl1pPr>
          </a:lstStyle>
          <a:p>
            <a:pPr/>
            <a:r>
              <a:t>Practical result: translation, roll, scale, and much yaw/pitch foreshortening get reduced before scoring.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ALGORITHM</a:t>
            </a:r>
          </a:p>
        </p:txBody>
      </p:sp>
      <p:sp>
        <p:nvSpPr>
          <p:cNvPr id="252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96111">
              <a:defRPr b="1" sz="2842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Scoring engine: route each movement to the right scorer</a:t>
            </a:r>
          </a:p>
        </p:txBody>
      </p:sp>
      <p:sp>
        <p:nvSpPr>
          <p:cNvPr id="253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54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256" name="Text 7"/>
          <p:cNvSpPr txBox="1"/>
          <p:nvPr/>
        </p:nvSpPr>
        <p:spPr>
          <a:xfrm>
            <a:off x="621791" y="1572767"/>
            <a:ext cx="10058401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Generic distance scoring is lazy. A brow raise, nostril flare, smile, and pucker do not move the same way. Mirror routes exercises to purpose-built scorers.</a:t>
            </a:r>
          </a:p>
        </p:txBody>
      </p:sp>
      <p:sp>
        <p:nvSpPr>
          <p:cNvPr id="257" name="Shape 8"/>
          <p:cNvSpPr/>
          <p:nvPr/>
        </p:nvSpPr>
        <p:spPr>
          <a:xfrm>
            <a:off x="2743200" y="3858767"/>
            <a:ext cx="914400" cy="1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Shape 9"/>
          <p:cNvSpPr/>
          <p:nvPr/>
        </p:nvSpPr>
        <p:spPr>
          <a:xfrm flipV="1">
            <a:off x="5628965" y="2937131"/>
            <a:ext cx="924525" cy="301077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Shape 10"/>
          <p:cNvSpPr/>
          <p:nvPr/>
        </p:nvSpPr>
        <p:spPr>
          <a:xfrm>
            <a:off x="5623559" y="3767328"/>
            <a:ext cx="868681" cy="1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Shape 11"/>
          <p:cNvSpPr/>
          <p:nvPr/>
        </p:nvSpPr>
        <p:spPr>
          <a:xfrm>
            <a:off x="5623559" y="4297679"/>
            <a:ext cx="935042" cy="298412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Shape 12"/>
          <p:cNvSpPr/>
          <p:nvPr/>
        </p:nvSpPr>
        <p:spPr>
          <a:xfrm>
            <a:off x="1097280" y="3218688"/>
            <a:ext cx="1508761" cy="1143001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13"/>
          <p:cNvSpPr txBox="1"/>
          <p:nvPr/>
        </p:nvSpPr>
        <p:spPr>
          <a:xfrm>
            <a:off x="1243583" y="3520440"/>
            <a:ext cx="1216154" cy="722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200">
                <a:solidFill>
                  <a:srgbClr val="0A1F33"/>
                </a:solidFill>
              </a:defRPr>
            </a:pPr>
            <a:r>
              <a:t>Exercise</a:t>
            </a:r>
          </a:p>
          <a:p>
            <a:pPr algn="ctr">
              <a:defRPr b="1" sz="1200">
                <a:solidFill>
                  <a:srgbClr val="0A1F33"/>
                </a:solidFill>
              </a:defRPr>
            </a:pPr>
            <a:r>
              <a:t>ID</a:t>
            </a:r>
          </a:p>
        </p:txBody>
      </p:sp>
      <p:sp>
        <p:nvSpPr>
          <p:cNvPr id="263" name="Shape 14"/>
          <p:cNvSpPr/>
          <p:nvPr/>
        </p:nvSpPr>
        <p:spPr>
          <a:xfrm>
            <a:off x="3794759" y="3127248"/>
            <a:ext cx="1691641" cy="1325881"/>
          </a:xfrm>
          <a:prstGeom prst="roundRect">
            <a:avLst>
              <a:gd name="adj" fmla="val 5517"/>
            </a:avLst>
          </a:prstGeom>
          <a:solidFill>
            <a:srgbClr val="E6F4F4"/>
          </a:solidFill>
          <a:ln w="10160">
            <a:solidFill>
              <a:srgbClr val="BFE4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15"/>
          <p:cNvSpPr txBox="1"/>
          <p:nvPr/>
        </p:nvSpPr>
        <p:spPr>
          <a:xfrm>
            <a:off x="3941064" y="3429000"/>
            <a:ext cx="1399033" cy="905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200">
                <a:solidFill>
                  <a:srgbClr val="0A1F33"/>
                </a:solidFill>
              </a:defRPr>
            </a:pPr>
            <a:r>
              <a:t>Scorer</a:t>
            </a:r>
          </a:p>
          <a:p>
            <a:pPr algn="ctr">
              <a:defRPr b="1" sz="1200">
                <a:solidFill>
                  <a:srgbClr val="0A1F33"/>
                </a:solidFill>
              </a:defRPr>
            </a:pPr>
            <a:r>
              <a:t>router</a:t>
            </a:r>
          </a:p>
        </p:txBody>
      </p:sp>
      <p:sp>
        <p:nvSpPr>
          <p:cNvPr id="265" name="Shape 16"/>
          <p:cNvSpPr/>
          <p:nvPr/>
        </p:nvSpPr>
        <p:spPr>
          <a:xfrm>
            <a:off x="6720840" y="2103120"/>
            <a:ext cx="1965961" cy="841249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Text 17"/>
          <p:cNvSpPr txBox="1"/>
          <p:nvPr/>
        </p:nvSpPr>
        <p:spPr>
          <a:xfrm>
            <a:off x="6867143" y="2404872"/>
            <a:ext cx="1673352" cy="420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100">
                <a:solidFill>
                  <a:srgbClr val="0A1F33"/>
                </a:solidFill>
              </a:defRPr>
            </a:pPr>
            <a:r>
              <a:t>Pairwise</a:t>
            </a:r>
          </a:p>
          <a:p>
            <a:pPr algn="ctr">
              <a:defRPr sz="1100">
                <a:solidFill>
                  <a:srgbClr val="0A1F33"/>
                </a:solidFill>
              </a:defRPr>
            </a:pPr>
            <a:r>
              <a:t>displacement</a:t>
            </a:r>
          </a:p>
        </p:txBody>
      </p:sp>
      <p:sp>
        <p:nvSpPr>
          <p:cNvPr id="267" name="Shape 18"/>
          <p:cNvSpPr/>
          <p:nvPr/>
        </p:nvSpPr>
        <p:spPr>
          <a:xfrm>
            <a:off x="6720840" y="3346703"/>
            <a:ext cx="1965961" cy="841249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19"/>
          <p:cNvSpPr txBox="1"/>
          <p:nvPr/>
        </p:nvSpPr>
        <p:spPr>
          <a:xfrm>
            <a:off x="6867143" y="3648455"/>
            <a:ext cx="1673352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100">
                <a:solidFill>
                  <a:srgbClr val="0A1F33"/>
                </a:solidFill>
              </a:defRPr>
            </a:pPr>
            <a:r>
              <a:t>Directional</a:t>
            </a:r>
          </a:p>
          <a:p>
            <a:pPr algn="ctr">
              <a:defRPr sz="1100">
                <a:solidFill>
                  <a:srgbClr val="0A1F33"/>
                </a:solidFill>
              </a:defRPr>
            </a:pPr>
            <a:r>
              <a:t>movement vectors</a:t>
            </a:r>
          </a:p>
        </p:txBody>
      </p:sp>
      <p:sp>
        <p:nvSpPr>
          <p:cNvPr id="269" name="Shape 20"/>
          <p:cNvSpPr/>
          <p:nvPr/>
        </p:nvSpPr>
        <p:spPr>
          <a:xfrm>
            <a:off x="6720840" y="4572000"/>
            <a:ext cx="1965961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21"/>
          <p:cNvSpPr txBox="1"/>
          <p:nvPr/>
        </p:nvSpPr>
        <p:spPr>
          <a:xfrm>
            <a:off x="6867143" y="4873752"/>
            <a:ext cx="1673352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100">
                <a:solidFill>
                  <a:srgbClr val="0A1F33"/>
                </a:solidFill>
              </a:defRPr>
            </a:pPr>
            <a:r>
              <a:t>Specialized</a:t>
            </a:r>
          </a:p>
          <a:p>
            <a:pPr algn="ctr">
              <a:defRPr sz="1100">
                <a:solidFill>
                  <a:srgbClr val="0A1F33"/>
                </a:solidFill>
              </a:defRPr>
            </a:pPr>
            <a:r>
              <a:t>brow / nose</a:t>
            </a:r>
          </a:p>
        </p:txBody>
      </p:sp>
      <p:sp>
        <p:nvSpPr>
          <p:cNvPr id="271" name="Shape 22"/>
          <p:cNvSpPr/>
          <p:nvPr/>
        </p:nvSpPr>
        <p:spPr>
          <a:xfrm>
            <a:off x="9189719" y="2423160"/>
            <a:ext cx="2331721" cy="2697480"/>
          </a:xfrm>
          <a:prstGeom prst="roundRect">
            <a:avLst>
              <a:gd name="adj" fmla="val 3137"/>
            </a:avLst>
          </a:prstGeom>
          <a:solidFill>
            <a:srgbClr val="FBFAF7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23"/>
          <p:cNvSpPr txBox="1"/>
          <p:nvPr/>
        </p:nvSpPr>
        <p:spPr>
          <a:xfrm>
            <a:off x="9400031" y="2697479"/>
            <a:ext cx="141732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OUTPUT CONTRACT</a:t>
            </a:r>
          </a:p>
        </p:txBody>
      </p:sp>
      <p:sp>
        <p:nvSpPr>
          <p:cNvPr id="273" name="Text 24"/>
          <p:cNvSpPr txBox="1"/>
          <p:nvPr/>
        </p:nvSpPr>
        <p:spPr>
          <a:xfrm>
            <a:off x="9464040" y="3090672"/>
            <a:ext cx="1554481" cy="1078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>
              <a:defRPr b="1" sz="1700">
                <a:solidFill>
                  <a:srgbClr val="0A1F33"/>
                </a:solidFill>
              </a:defRPr>
            </a:pPr>
            <a:r>
              <a:t>leftDisp</a:t>
            </a:r>
          </a:p>
          <a:p>
            <a:pPr algn="ctr">
              <a:defRPr b="1" sz="1700">
                <a:solidFill>
                  <a:srgbClr val="0A1F33"/>
                </a:solidFill>
              </a:defRPr>
            </a:pPr>
            <a:r>
              <a:t>rightDisp</a:t>
            </a:r>
          </a:p>
          <a:p>
            <a:pPr algn="ctr">
              <a:defRPr b="1" sz="1700">
                <a:solidFill>
                  <a:srgbClr val="0A1F33"/>
                </a:solidFill>
              </a:defRPr>
            </a:pPr>
            <a:r>
              <a:t>symmetry</a:t>
            </a:r>
          </a:p>
          <a:p>
            <a:pPr algn="ctr">
              <a:defRPr b="1" sz="1700">
                <a:solidFill>
                  <a:srgbClr val="0A1F33"/>
                </a:solidFill>
              </a:defRPr>
            </a:pPr>
            <a:r>
              <a:t>peak</a:t>
            </a:r>
          </a:p>
        </p:txBody>
      </p:sp>
      <p:sp>
        <p:nvSpPr>
          <p:cNvPr id="274" name="Text 25"/>
          <p:cNvSpPr txBox="1"/>
          <p:nvPr/>
        </p:nvSpPr>
        <p:spPr>
          <a:xfrm>
            <a:off x="9555480" y="4498847"/>
            <a:ext cx="141732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900">
                <a:solidFill>
                  <a:srgbClr val="71808E"/>
                </a:solidFill>
              </a:defRPr>
            </a:lvl1pPr>
          </a:lstStyle>
          <a:p>
            <a:pPr/>
            <a:r>
              <a:t>all in user/anatomical left-right</a:t>
            </a:r>
          </a:p>
        </p:txBody>
      </p:sp>
      <p:sp>
        <p:nvSpPr>
          <p:cNvPr id="275" name="Shape 26"/>
          <p:cNvSpPr/>
          <p:nvPr/>
        </p:nvSpPr>
        <p:spPr>
          <a:xfrm>
            <a:off x="8713330" y="2547884"/>
            <a:ext cx="421059" cy="1150050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Shape 27"/>
          <p:cNvSpPr/>
          <p:nvPr/>
        </p:nvSpPr>
        <p:spPr>
          <a:xfrm>
            <a:off x="8705088" y="3767328"/>
            <a:ext cx="438912" cy="1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Shape 28"/>
          <p:cNvSpPr/>
          <p:nvPr/>
        </p:nvSpPr>
        <p:spPr>
          <a:xfrm flipV="1">
            <a:off x="8701823" y="3840480"/>
            <a:ext cx="446353" cy="1106197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ALGORITHM DETAILS</a:t>
            </a:r>
          </a:p>
        </p:txBody>
      </p:sp>
      <p:sp>
        <p:nvSpPr>
          <p:cNvPr id="282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Movement families now have movement-specific logic</a:t>
            </a:r>
          </a:p>
        </p:txBody>
      </p:sp>
      <p:sp>
        <p:nvSpPr>
          <p:cNvPr id="283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84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286" name="Text 7"/>
          <p:cNvSpPr txBox="1"/>
          <p:nvPr/>
        </p:nvSpPr>
        <p:spPr>
          <a:xfrm>
            <a:off x="621791" y="1572767"/>
            <a:ext cx="978408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68680">
              <a:defRPr sz="1520">
                <a:solidFill>
                  <a:srgbClr val="4E5F6E"/>
                </a:solidFill>
              </a:defRPr>
            </a:lvl1pPr>
          </a:lstStyle>
          <a:p>
            <a:pPr/>
            <a:r>
              <a:t>The updated algorithm counts the intended direction, not merely “any landmark moved.” That is how you stop wrong movement from being rewarded.</a:t>
            </a:r>
          </a:p>
        </p:txBody>
      </p:sp>
      <p:sp>
        <p:nvSpPr>
          <p:cNvPr id="287" name="Shape 8"/>
          <p:cNvSpPr/>
          <p:nvPr/>
        </p:nvSpPr>
        <p:spPr>
          <a:xfrm>
            <a:off x="777240" y="2359151"/>
            <a:ext cx="10652760" cy="3456433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" name="Text 9"/>
          <p:cNvSpPr txBox="1"/>
          <p:nvPr/>
        </p:nvSpPr>
        <p:spPr>
          <a:xfrm>
            <a:off x="960119" y="2670048"/>
            <a:ext cx="219456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000">
                <a:solidFill>
                  <a:srgbClr val="71808E"/>
                </a:solidFill>
              </a:defRPr>
            </a:lvl1pPr>
          </a:lstStyle>
          <a:p>
            <a:pPr/>
            <a:r>
              <a:t>Family</a:t>
            </a:r>
          </a:p>
        </p:txBody>
      </p:sp>
      <p:sp>
        <p:nvSpPr>
          <p:cNvPr id="289" name="Text 10"/>
          <p:cNvSpPr txBox="1"/>
          <p:nvPr/>
        </p:nvSpPr>
        <p:spPr>
          <a:xfrm>
            <a:off x="3657600" y="2670048"/>
            <a:ext cx="29260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000">
                <a:solidFill>
                  <a:srgbClr val="71808E"/>
                </a:solidFill>
              </a:defRPr>
            </a:lvl1pPr>
          </a:lstStyle>
          <a:p>
            <a:pPr/>
            <a:r>
              <a:t>Signal counted</a:t>
            </a:r>
          </a:p>
        </p:txBody>
      </p:sp>
      <p:sp>
        <p:nvSpPr>
          <p:cNvPr id="290" name="Text 11"/>
          <p:cNvSpPr txBox="1"/>
          <p:nvPr/>
        </p:nvSpPr>
        <p:spPr>
          <a:xfrm>
            <a:off x="7315200" y="2670048"/>
            <a:ext cx="283464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000">
                <a:solidFill>
                  <a:srgbClr val="71808E"/>
                </a:solidFill>
              </a:defRPr>
            </a:lvl1pPr>
          </a:lstStyle>
          <a:p>
            <a:pPr/>
            <a:r>
              <a:t>Why it matters</a:t>
            </a:r>
          </a:p>
        </p:txBody>
      </p:sp>
      <p:sp>
        <p:nvSpPr>
          <p:cNvPr id="291" name="Shape 12"/>
          <p:cNvSpPr/>
          <p:nvPr/>
        </p:nvSpPr>
        <p:spPr>
          <a:xfrm>
            <a:off x="960119" y="2907792"/>
            <a:ext cx="10012682" cy="1"/>
          </a:xfrm>
          <a:prstGeom prst="line">
            <a:avLst/>
          </a:prstGeom>
          <a:ln w="635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Text 13"/>
          <p:cNvSpPr txBox="1"/>
          <p:nvPr/>
        </p:nvSpPr>
        <p:spPr>
          <a:xfrm>
            <a:off x="960119" y="3017520"/>
            <a:ext cx="2240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000">
                <a:solidFill>
                  <a:srgbClr val="0A1F33"/>
                </a:solidFill>
              </a:defRPr>
            </a:lvl1pPr>
          </a:lstStyle>
          <a:p>
            <a:pPr/>
            <a:r>
              <a:t>Smile · vowel E/I</a:t>
            </a:r>
          </a:p>
        </p:txBody>
      </p:sp>
      <p:sp>
        <p:nvSpPr>
          <p:cNvPr id="293" name="Text 14"/>
          <p:cNvSpPr txBox="1"/>
          <p:nvPr/>
        </p:nvSpPr>
        <p:spPr>
          <a:xfrm>
            <a:off x="3657600" y="3017520"/>
            <a:ext cx="30632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outward + slightly upward mouth pull</a:t>
            </a:r>
          </a:p>
        </p:txBody>
      </p:sp>
      <p:sp>
        <p:nvSpPr>
          <p:cNvPr id="294" name="Text 15"/>
          <p:cNvSpPr txBox="1"/>
          <p:nvPr/>
        </p:nvSpPr>
        <p:spPr>
          <a:xfrm>
            <a:off x="7315200" y="3017520"/>
            <a:ext cx="31546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prevents pucker from scoring as smile</a:t>
            </a:r>
          </a:p>
        </p:txBody>
      </p:sp>
      <p:sp>
        <p:nvSpPr>
          <p:cNvPr id="295" name="Shape 16"/>
          <p:cNvSpPr/>
          <p:nvPr/>
        </p:nvSpPr>
        <p:spPr>
          <a:xfrm>
            <a:off x="960119" y="3410711"/>
            <a:ext cx="10012682" cy="1"/>
          </a:xfrm>
          <a:prstGeom prst="line">
            <a:avLst/>
          </a:prstGeom>
          <a:ln w="635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17"/>
          <p:cNvSpPr txBox="1"/>
          <p:nvPr/>
        </p:nvSpPr>
        <p:spPr>
          <a:xfrm>
            <a:off x="960119" y="3520440"/>
            <a:ext cx="2240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000">
                <a:solidFill>
                  <a:srgbClr val="0A1F33"/>
                </a:solidFill>
              </a:defRPr>
            </a:lvl1pPr>
          </a:lstStyle>
          <a:p>
            <a:pPr/>
            <a:r>
              <a:t>Pucker · kiss · vowel O/U</a:t>
            </a:r>
          </a:p>
        </p:txBody>
      </p:sp>
      <p:sp>
        <p:nvSpPr>
          <p:cNvPr id="297" name="Text 18"/>
          <p:cNvSpPr txBox="1"/>
          <p:nvPr/>
        </p:nvSpPr>
        <p:spPr>
          <a:xfrm>
            <a:off x="3657600" y="3520440"/>
            <a:ext cx="30632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inward lip motion toward midline</a:t>
            </a:r>
          </a:p>
        </p:txBody>
      </p:sp>
      <p:sp>
        <p:nvSpPr>
          <p:cNvPr id="298" name="Text 19"/>
          <p:cNvSpPr txBox="1"/>
          <p:nvPr/>
        </p:nvSpPr>
        <p:spPr>
          <a:xfrm>
            <a:off x="7315200" y="3520440"/>
            <a:ext cx="31546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prevents smile-only movement from scoring</a:t>
            </a:r>
          </a:p>
        </p:txBody>
      </p:sp>
      <p:sp>
        <p:nvSpPr>
          <p:cNvPr id="299" name="Shape 20"/>
          <p:cNvSpPr/>
          <p:nvPr/>
        </p:nvSpPr>
        <p:spPr>
          <a:xfrm>
            <a:off x="960119" y="3913632"/>
            <a:ext cx="10012682" cy="1"/>
          </a:xfrm>
          <a:prstGeom prst="line">
            <a:avLst/>
          </a:prstGeom>
          <a:ln w="635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21"/>
          <p:cNvSpPr txBox="1"/>
          <p:nvPr/>
        </p:nvSpPr>
        <p:spPr>
          <a:xfrm>
            <a:off x="960119" y="4023359"/>
            <a:ext cx="2240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000">
                <a:solidFill>
                  <a:srgbClr val="0A1F33"/>
                </a:solidFill>
              </a:defRPr>
            </a:lvl1pPr>
          </a:lstStyle>
          <a:p>
            <a:pPr/>
            <a:r>
              <a:t>Eye close · blink · wink</a:t>
            </a:r>
          </a:p>
        </p:txBody>
      </p:sp>
      <p:sp>
        <p:nvSpPr>
          <p:cNvPr id="301" name="Text 22"/>
          <p:cNvSpPr txBox="1"/>
          <p:nvPr/>
        </p:nvSpPr>
        <p:spPr>
          <a:xfrm>
            <a:off x="3657600" y="4023359"/>
            <a:ext cx="30632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decreased eyelid aperture</a:t>
            </a:r>
          </a:p>
        </p:txBody>
      </p:sp>
      <p:sp>
        <p:nvSpPr>
          <p:cNvPr id="302" name="Text 23"/>
          <p:cNvSpPr txBox="1"/>
          <p:nvPr/>
        </p:nvSpPr>
        <p:spPr>
          <a:xfrm>
            <a:off x="7315200" y="4023359"/>
            <a:ext cx="31546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rejects lateral eye drift</a:t>
            </a:r>
          </a:p>
        </p:txBody>
      </p:sp>
      <p:sp>
        <p:nvSpPr>
          <p:cNvPr id="303" name="Shape 24"/>
          <p:cNvSpPr/>
          <p:nvPr/>
        </p:nvSpPr>
        <p:spPr>
          <a:xfrm>
            <a:off x="960119" y="4416552"/>
            <a:ext cx="10012682" cy="1"/>
          </a:xfrm>
          <a:prstGeom prst="line">
            <a:avLst/>
          </a:prstGeom>
          <a:ln w="635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Text 25"/>
          <p:cNvSpPr txBox="1"/>
          <p:nvPr/>
        </p:nvSpPr>
        <p:spPr>
          <a:xfrm>
            <a:off x="960119" y="4526279"/>
            <a:ext cx="2240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000">
                <a:solidFill>
                  <a:srgbClr val="0A1F33"/>
                </a:solidFill>
              </a:defRPr>
            </a:lvl1pPr>
          </a:lstStyle>
          <a:p>
            <a:pPr/>
            <a:r>
              <a:t>Brow raise / frown</a:t>
            </a:r>
          </a:p>
        </p:txBody>
      </p:sp>
      <p:sp>
        <p:nvSpPr>
          <p:cNvPr id="305" name="Text 26"/>
          <p:cNvSpPr txBox="1"/>
          <p:nvPr/>
        </p:nvSpPr>
        <p:spPr>
          <a:xfrm>
            <a:off x="3657600" y="4526279"/>
            <a:ext cx="30632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brow-eye gap; frown down/inward</a:t>
            </a:r>
          </a:p>
        </p:txBody>
      </p:sp>
      <p:sp>
        <p:nvSpPr>
          <p:cNvPr id="306" name="Text 27"/>
          <p:cNvSpPr txBox="1"/>
          <p:nvPr/>
        </p:nvSpPr>
        <p:spPr>
          <a:xfrm>
            <a:off x="7315200" y="4526279"/>
            <a:ext cx="31546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stable against absolute brow position</a:t>
            </a:r>
          </a:p>
        </p:txBody>
      </p:sp>
      <p:sp>
        <p:nvSpPr>
          <p:cNvPr id="307" name="Shape 28"/>
          <p:cNvSpPr/>
          <p:nvPr/>
        </p:nvSpPr>
        <p:spPr>
          <a:xfrm>
            <a:off x="960119" y="4919471"/>
            <a:ext cx="10012682" cy="1"/>
          </a:xfrm>
          <a:prstGeom prst="line">
            <a:avLst/>
          </a:prstGeom>
          <a:ln w="635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29"/>
          <p:cNvSpPr txBox="1"/>
          <p:nvPr/>
        </p:nvSpPr>
        <p:spPr>
          <a:xfrm>
            <a:off x="960119" y="5029200"/>
            <a:ext cx="224028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000">
                <a:solidFill>
                  <a:srgbClr val="0A1F33"/>
                </a:solidFill>
              </a:defRPr>
            </a:lvl1pPr>
          </a:lstStyle>
          <a:p>
            <a:pPr/>
            <a:r>
              <a:t>Nostril flare / scrunch</a:t>
            </a:r>
          </a:p>
        </p:txBody>
      </p:sp>
      <p:sp>
        <p:nvSpPr>
          <p:cNvPr id="309" name="Text 30"/>
          <p:cNvSpPr txBox="1"/>
          <p:nvPr/>
        </p:nvSpPr>
        <p:spPr>
          <a:xfrm>
            <a:off x="3657600" y="5029200"/>
            <a:ext cx="306324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rim/ala aperture; upward lift + sneer blendshape</a:t>
            </a:r>
          </a:p>
        </p:txBody>
      </p:sp>
      <p:sp>
        <p:nvSpPr>
          <p:cNvPr id="310" name="Text 31"/>
          <p:cNvSpPr txBox="1"/>
          <p:nvPr/>
        </p:nvSpPr>
        <p:spPr>
          <a:xfrm>
            <a:off x="7315200" y="5029200"/>
            <a:ext cx="315468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no fallback to generic if direction fails</a:t>
            </a:r>
          </a:p>
        </p:txBody>
      </p:sp>
      <p:sp>
        <p:nvSpPr>
          <p:cNvPr id="311" name="Shape 32"/>
          <p:cNvSpPr/>
          <p:nvPr/>
        </p:nvSpPr>
        <p:spPr>
          <a:xfrm>
            <a:off x="1234439" y="6080759"/>
            <a:ext cx="9326882" cy="384049"/>
          </a:xfrm>
          <a:prstGeom prst="roundRect">
            <a:avLst>
              <a:gd name="adj" fmla="val 14286"/>
            </a:avLst>
          </a:prstGeom>
          <a:solidFill>
            <a:srgbClr val="F4E5D1"/>
          </a:solidFill>
          <a:ln w="10160">
            <a:solidFill>
              <a:srgbClr val="C58B36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Shape 33"/>
          <p:cNvSpPr/>
          <p:nvPr/>
        </p:nvSpPr>
        <p:spPr>
          <a:xfrm>
            <a:off x="1234439" y="6080759"/>
            <a:ext cx="64009" cy="384049"/>
          </a:xfrm>
          <a:prstGeom prst="rect">
            <a:avLst/>
          </a:prstGeom>
          <a:solidFill>
            <a:srgbClr val="C58B3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Text 34"/>
          <p:cNvSpPr txBox="1"/>
          <p:nvPr/>
        </p:nvSpPr>
        <p:spPr>
          <a:xfrm>
            <a:off x="1399032" y="6217920"/>
            <a:ext cx="9015984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905255">
              <a:defRPr sz="989">
                <a:solidFill>
                  <a:srgbClr val="0A1F33"/>
                </a:solidFill>
              </a:defRPr>
            </a:lvl1pPr>
          </a:lstStyle>
          <a:p>
            <a:pPr/>
            <a:r>
              <a:t>Blendshapes help activation and snapshot timing. They are not the main symmetry score because coefficients can look artificially balanced on asymmetric faces.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MEASUREMENT MODEL</a:t>
            </a:r>
          </a:p>
        </p:txBody>
      </p:sp>
      <p:sp>
        <p:nvSpPr>
          <p:cNvPr id="318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The metric split: balance is not recovery</a:t>
            </a:r>
          </a:p>
        </p:txBody>
      </p:sp>
      <p:sp>
        <p:nvSpPr>
          <p:cNvPr id="319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20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322" name="Text 7"/>
          <p:cNvSpPr txBox="1"/>
          <p:nvPr/>
        </p:nvSpPr>
        <p:spPr>
          <a:xfrm>
            <a:off x="621791" y="1572767"/>
            <a:ext cx="96926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68680">
              <a:defRPr sz="1520">
                <a:solidFill>
                  <a:srgbClr val="4E5F6E"/>
                </a:solidFill>
              </a:defRPr>
            </a:lvl1pPr>
          </a:lstStyle>
          <a:p>
            <a:pPr/>
            <a:r>
              <a:t>A symmetry score can stay flat while the affected side genuinely gets stronger. The updated deck makes that distinction explicit.</a:t>
            </a:r>
          </a:p>
        </p:txBody>
      </p:sp>
      <p:sp>
        <p:nvSpPr>
          <p:cNvPr id="323" name="Shape 8"/>
          <p:cNvSpPr/>
          <p:nvPr/>
        </p:nvSpPr>
        <p:spPr>
          <a:xfrm>
            <a:off x="822960" y="2331720"/>
            <a:ext cx="4892041" cy="2423161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" name="Text 9"/>
          <p:cNvSpPr txBox="1"/>
          <p:nvPr/>
        </p:nvSpPr>
        <p:spPr>
          <a:xfrm>
            <a:off x="1097280" y="2633472"/>
            <a:ext cx="182880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MOVEMENT BALANCE</a:t>
            </a:r>
          </a:p>
        </p:txBody>
      </p:sp>
      <p:sp>
        <p:nvSpPr>
          <p:cNvPr id="325" name="Text 10"/>
          <p:cNvSpPr txBox="1"/>
          <p:nvPr/>
        </p:nvSpPr>
        <p:spPr>
          <a:xfrm>
            <a:off x="1097280" y="3063239"/>
            <a:ext cx="4114801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804672">
              <a:defRPr b="1" sz="1584">
                <a:solidFill>
                  <a:srgbClr val="0A1F33"/>
                </a:solidFill>
              </a:defRPr>
            </a:lvl1pPr>
          </a:lstStyle>
          <a:p>
            <a:pPr/>
            <a:r>
              <a:t>symmetry = min(left, right) / max(left, right)</a:t>
            </a:r>
          </a:p>
        </p:txBody>
      </p:sp>
      <p:sp>
        <p:nvSpPr>
          <p:cNvPr id="326" name="Text 11"/>
          <p:cNvSpPr txBox="1"/>
          <p:nvPr/>
        </p:nvSpPr>
        <p:spPr>
          <a:xfrm>
            <a:off x="1143000" y="3886200"/>
            <a:ext cx="36576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>
              <a:defRPr sz="1100">
                <a:solidFill>
                  <a:srgbClr val="4E5F6E"/>
                </a:solidFill>
              </a:defRPr>
            </a:pPr>
            <a:r>
              <a:t>Best for: “was this rep balanced?”</a:t>
            </a:r>
          </a:p>
          <a:p>
            <a:pPr algn="ctr">
              <a:defRPr sz="1100">
                <a:solidFill>
                  <a:srgbClr val="4E5F6E"/>
                </a:solidFill>
              </a:defRPr>
            </a:pPr>
            <a:r>
              <a:t>Not enough for: “am I recovering?”</a:t>
            </a:r>
          </a:p>
        </p:txBody>
      </p:sp>
      <p:sp>
        <p:nvSpPr>
          <p:cNvPr id="327" name="Shape 12"/>
          <p:cNvSpPr/>
          <p:nvPr/>
        </p:nvSpPr>
        <p:spPr>
          <a:xfrm>
            <a:off x="6400800" y="2331720"/>
            <a:ext cx="4892041" cy="2423161"/>
          </a:xfrm>
          <a:prstGeom prst="roundRect">
            <a:avLst>
              <a:gd name="adj" fmla="val 3019"/>
            </a:avLst>
          </a:prstGeom>
          <a:solidFill>
            <a:srgbClr val="E4F2EC"/>
          </a:solidFill>
          <a:ln w="10160">
            <a:solidFill>
              <a:srgbClr val="3B8B7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" name="Text 13"/>
          <p:cNvSpPr txBox="1"/>
          <p:nvPr/>
        </p:nvSpPr>
        <p:spPr>
          <a:xfrm>
            <a:off x="6675119" y="2633472"/>
            <a:ext cx="2011680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3B8B74"/>
                </a:solidFill>
              </a:defRPr>
            </a:lvl1pPr>
          </a:lstStyle>
          <a:p>
            <a:pPr/>
            <a:r>
              <a:t>RECOVERY PROGRESS</a:t>
            </a:r>
          </a:p>
        </p:txBody>
      </p:sp>
      <p:sp>
        <p:nvSpPr>
          <p:cNvPr id="329" name="Text 14"/>
          <p:cNvSpPr txBox="1"/>
          <p:nvPr/>
        </p:nvSpPr>
        <p:spPr>
          <a:xfrm>
            <a:off x="6675119" y="2999232"/>
            <a:ext cx="411480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b="1" sz="1600">
                <a:solidFill>
                  <a:srgbClr val="0A1F33"/>
                </a:solidFill>
              </a:defRPr>
            </a:lvl1pPr>
          </a:lstStyle>
          <a:p>
            <a:pPr/>
            <a:r>
              <a:t>affectedProgress = current affected / first baseline affected</a:t>
            </a:r>
          </a:p>
        </p:txBody>
      </p:sp>
      <p:sp>
        <p:nvSpPr>
          <p:cNvPr id="330" name="Text 15"/>
          <p:cNvSpPr txBox="1"/>
          <p:nvPr/>
        </p:nvSpPr>
        <p:spPr>
          <a:xfrm>
            <a:off x="6903719" y="3977640"/>
            <a:ext cx="3520441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1100">
                <a:solidFill>
                  <a:srgbClr val="4E5F6E"/>
                </a:solidFill>
              </a:defRPr>
            </a:lvl1pPr>
          </a:lstStyle>
          <a:p>
            <a:pPr/>
            <a:r>
              <a:t>Also tracks affected-to-proper ratio today versus baseline.</a:t>
            </a:r>
          </a:p>
        </p:txBody>
      </p:sp>
      <p:sp>
        <p:nvSpPr>
          <p:cNvPr id="331" name="Shape 16"/>
          <p:cNvSpPr/>
          <p:nvPr/>
        </p:nvSpPr>
        <p:spPr>
          <a:xfrm>
            <a:off x="1627632" y="5532120"/>
            <a:ext cx="8942832" cy="493777"/>
          </a:xfrm>
          <a:prstGeom prst="roundRect">
            <a:avLst>
              <a:gd name="adj" fmla="val 11111"/>
            </a:avLst>
          </a:prstGeom>
          <a:solidFill>
            <a:srgbClr val="E6F4F4"/>
          </a:solidFill>
          <a:ln w="10160">
            <a:solidFill>
              <a:srgbClr val="1A9FA6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Shape 17"/>
          <p:cNvSpPr/>
          <p:nvPr/>
        </p:nvSpPr>
        <p:spPr>
          <a:xfrm>
            <a:off x="1627632" y="5532120"/>
            <a:ext cx="64009" cy="493777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Text 18"/>
          <p:cNvSpPr txBox="1"/>
          <p:nvPr/>
        </p:nvSpPr>
        <p:spPr>
          <a:xfrm>
            <a:off x="1792223" y="5669279"/>
            <a:ext cx="863193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A1F33"/>
                </a:solidFill>
              </a:defRPr>
            </a:lvl1pPr>
          </a:lstStyle>
          <a:p>
            <a:pPr/>
            <a:r>
              <a:t>Example: “Right smile is +18% from first baseline. Affected-vs-proper is 62% today, up from 48%.”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PERSONALIZATION</a:t>
            </a:r>
          </a:p>
        </p:txBody>
      </p:sp>
      <p:sp>
        <p:nvSpPr>
          <p:cNvPr id="338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Personal movement profile: baseline as a living layer</a:t>
            </a:r>
          </a:p>
        </p:txBody>
      </p:sp>
      <p:sp>
        <p:nvSpPr>
          <p:cNvPr id="339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40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342" name="Text 7"/>
          <p:cNvSpPr txBox="1"/>
          <p:nvPr/>
        </p:nvSpPr>
        <p:spPr>
          <a:xfrm>
            <a:off x="621791" y="1572767"/>
            <a:ext cx="100584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68680">
              <a:defRPr sz="1520">
                <a:solidFill>
                  <a:srgbClr val="4E5F6E"/>
                </a:solidFill>
              </a:defRPr>
            </a:lvl1pPr>
          </a:lstStyle>
          <a:p>
            <a:pPr/>
            <a:r>
              <a:t>The profile is not a trained model. It is a local, individualized baseline and threshold system generated from the user's own movement.</a:t>
            </a:r>
          </a:p>
        </p:txBody>
      </p:sp>
      <p:sp>
        <p:nvSpPr>
          <p:cNvPr id="343" name="Shape 8"/>
          <p:cNvSpPr/>
          <p:nvPr/>
        </p:nvSpPr>
        <p:spPr>
          <a:xfrm>
            <a:off x="1627632" y="3310128"/>
            <a:ext cx="704089" cy="1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Shape 9"/>
          <p:cNvSpPr/>
          <p:nvPr/>
        </p:nvSpPr>
        <p:spPr>
          <a:xfrm>
            <a:off x="3712464" y="3310128"/>
            <a:ext cx="704089" cy="1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Shape 10"/>
          <p:cNvSpPr/>
          <p:nvPr/>
        </p:nvSpPr>
        <p:spPr>
          <a:xfrm>
            <a:off x="5797296" y="3310128"/>
            <a:ext cx="704089" cy="1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Shape 11"/>
          <p:cNvSpPr/>
          <p:nvPr/>
        </p:nvSpPr>
        <p:spPr>
          <a:xfrm>
            <a:off x="7882128" y="3310128"/>
            <a:ext cx="704089" cy="1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47" name="Shape 12"/>
          <p:cNvSpPr/>
          <p:nvPr/>
        </p:nvSpPr>
        <p:spPr>
          <a:xfrm>
            <a:off x="685800" y="2788920"/>
            <a:ext cx="1325881" cy="105156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Text 13"/>
          <p:cNvSpPr txBox="1"/>
          <p:nvPr/>
        </p:nvSpPr>
        <p:spPr>
          <a:xfrm>
            <a:off x="832103" y="3090672"/>
            <a:ext cx="1033273" cy="630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000">
                <a:solidFill>
                  <a:srgbClr val="0A1F33"/>
                </a:solidFill>
              </a:defRPr>
            </a:pPr>
            <a:r>
              <a:t>Affected side</a:t>
            </a:r>
          </a:p>
          <a:p>
            <a:pPr algn="ctr">
              <a:defRPr b="1" sz="1000">
                <a:solidFill>
                  <a:srgbClr val="0A1F33"/>
                </a:solidFill>
              </a:defRPr>
            </a:pPr>
            <a:r>
              <a:t>+ comfort</a:t>
            </a:r>
          </a:p>
        </p:txBody>
      </p:sp>
      <p:sp>
        <p:nvSpPr>
          <p:cNvPr id="349" name="Text 14"/>
          <p:cNvSpPr txBox="1"/>
          <p:nvPr/>
        </p:nvSpPr>
        <p:spPr>
          <a:xfrm>
            <a:off x="594359" y="4023359"/>
            <a:ext cx="150876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left / right / both / unsure · gentle / normal / advanced</a:t>
            </a:r>
          </a:p>
        </p:txBody>
      </p:sp>
      <p:sp>
        <p:nvSpPr>
          <p:cNvPr id="350" name="Shape 15"/>
          <p:cNvSpPr/>
          <p:nvPr/>
        </p:nvSpPr>
        <p:spPr>
          <a:xfrm>
            <a:off x="2770632" y="2788920"/>
            <a:ext cx="1325881" cy="105156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16"/>
          <p:cNvSpPr txBox="1"/>
          <p:nvPr/>
        </p:nvSpPr>
        <p:spPr>
          <a:xfrm>
            <a:off x="2916935" y="3090672"/>
            <a:ext cx="1033273" cy="630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000">
                <a:solidFill>
                  <a:srgbClr val="0A1F33"/>
                </a:solidFill>
              </a:defRPr>
            </a:pPr>
            <a:r>
              <a:t>Global neutral</a:t>
            </a:r>
          </a:p>
          <a:p>
            <a:pPr algn="ctr">
              <a:defRPr b="1" sz="1000">
                <a:solidFill>
                  <a:srgbClr val="0A1F33"/>
                </a:solidFill>
              </a:defRPr>
            </a:pPr>
            <a:r>
              <a:t>calibration</a:t>
            </a:r>
          </a:p>
        </p:txBody>
      </p:sp>
      <p:sp>
        <p:nvSpPr>
          <p:cNvPr id="352" name="Text 17"/>
          <p:cNvSpPr txBox="1"/>
          <p:nvPr/>
        </p:nvSpPr>
        <p:spPr>
          <a:xfrm>
            <a:off x="2679192" y="4023359"/>
            <a:ext cx="150876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stable frames · noise floor · neutral matrix</a:t>
            </a:r>
          </a:p>
        </p:txBody>
      </p:sp>
      <p:sp>
        <p:nvSpPr>
          <p:cNvPr id="353" name="Shape 18"/>
          <p:cNvSpPr/>
          <p:nvPr/>
        </p:nvSpPr>
        <p:spPr>
          <a:xfrm>
            <a:off x="4855464" y="2788920"/>
            <a:ext cx="1325881" cy="105156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Text 19"/>
          <p:cNvSpPr txBox="1"/>
          <p:nvPr/>
        </p:nvSpPr>
        <p:spPr>
          <a:xfrm>
            <a:off x="5001767" y="3090672"/>
            <a:ext cx="1033273" cy="630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000">
                <a:solidFill>
                  <a:srgbClr val="0A1F33"/>
                </a:solidFill>
              </a:defRPr>
            </a:pPr>
            <a:r>
              <a:t>Per-exercise</a:t>
            </a:r>
          </a:p>
          <a:p>
            <a:pPr algn="ctr">
              <a:defRPr b="1" sz="1000">
                <a:solidFill>
                  <a:srgbClr val="0A1F33"/>
                </a:solidFill>
              </a:defRPr>
            </a:pPr>
            <a:r>
              <a:t>rest neutral</a:t>
            </a:r>
          </a:p>
        </p:txBody>
      </p:sp>
      <p:sp>
        <p:nvSpPr>
          <p:cNvPr id="355" name="Text 20"/>
          <p:cNvSpPr txBox="1"/>
          <p:nvPr/>
        </p:nvSpPr>
        <p:spPr>
          <a:xfrm>
            <a:off x="4764023" y="4023359"/>
            <a:ext cx="150876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less drift from blinking, jaw settling, tension</a:t>
            </a:r>
          </a:p>
        </p:txBody>
      </p:sp>
      <p:sp>
        <p:nvSpPr>
          <p:cNvPr id="356" name="Shape 21"/>
          <p:cNvSpPr/>
          <p:nvPr/>
        </p:nvSpPr>
        <p:spPr>
          <a:xfrm>
            <a:off x="6940295" y="2788920"/>
            <a:ext cx="1325881" cy="1051561"/>
          </a:xfrm>
          <a:prstGeom prst="roundRect">
            <a:avLst>
              <a:gd name="adj" fmla="val 6957"/>
            </a:avLst>
          </a:prstGeom>
          <a:solidFill>
            <a:srgbClr val="E6F4F4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7" name="Text 22"/>
          <p:cNvSpPr txBox="1"/>
          <p:nvPr/>
        </p:nvSpPr>
        <p:spPr>
          <a:xfrm>
            <a:off x="7086600" y="3090672"/>
            <a:ext cx="1033273" cy="630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0A1F33"/>
                </a:solidFill>
              </a:defRPr>
            </a:lvl1pPr>
          </a:lstStyle>
          <a:p>
            <a:pPr/>
            <a:r>
              <a:t>Robust baseline</a:t>
            </a:r>
          </a:p>
        </p:txBody>
      </p:sp>
      <p:sp>
        <p:nvSpPr>
          <p:cNvPr id="358" name="Text 23"/>
          <p:cNvSpPr txBox="1"/>
          <p:nvPr/>
        </p:nvSpPr>
        <p:spPr>
          <a:xfrm>
            <a:off x="6848856" y="4023359"/>
            <a:ext cx="150876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top 20% movement window, not single peak</a:t>
            </a:r>
          </a:p>
        </p:txBody>
      </p:sp>
      <p:sp>
        <p:nvSpPr>
          <p:cNvPr id="359" name="Shape 24"/>
          <p:cNvSpPr/>
          <p:nvPr/>
        </p:nvSpPr>
        <p:spPr>
          <a:xfrm>
            <a:off x="9025128" y="2788920"/>
            <a:ext cx="1325881" cy="105156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0" name="Text 25"/>
          <p:cNvSpPr txBox="1"/>
          <p:nvPr/>
        </p:nvSpPr>
        <p:spPr>
          <a:xfrm>
            <a:off x="9171431" y="3090672"/>
            <a:ext cx="1033273" cy="630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0A1F33"/>
                </a:solidFill>
              </a:defRPr>
            </a:lvl1pPr>
          </a:lstStyle>
          <a:p>
            <a:pPr/>
            <a:r>
              <a:t>Quality label</a:t>
            </a:r>
          </a:p>
        </p:txBody>
      </p:sp>
      <p:sp>
        <p:nvSpPr>
          <p:cNvPr id="361" name="Text 26"/>
          <p:cNvSpPr txBox="1"/>
          <p:nvPr/>
        </p:nvSpPr>
        <p:spPr>
          <a:xfrm>
            <a:off x="8933688" y="4023359"/>
            <a:ext cx="150876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Strong · Usable · Retake</a:t>
            </a:r>
          </a:p>
        </p:txBody>
      </p:sp>
      <p:sp>
        <p:nvSpPr>
          <p:cNvPr id="362" name="Shape 27"/>
          <p:cNvSpPr/>
          <p:nvPr/>
        </p:nvSpPr>
        <p:spPr>
          <a:xfrm>
            <a:off x="1051560" y="5074920"/>
            <a:ext cx="9829801" cy="713233"/>
          </a:xfrm>
          <a:prstGeom prst="roundRect">
            <a:avLst>
              <a:gd name="adj" fmla="val 10256"/>
            </a:avLst>
          </a:prstGeom>
          <a:solidFill>
            <a:srgbClr val="FBFAF7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3" name="Text 28"/>
          <p:cNvSpPr txBox="1"/>
          <p:nvPr/>
        </p:nvSpPr>
        <p:spPr>
          <a:xfrm>
            <a:off x="1325879" y="5294376"/>
            <a:ext cx="923544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b="1" sz="1100">
                <a:solidFill>
                  <a:srgbClr val="0A1F33"/>
                </a:solidFill>
              </a:defRPr>
            </a:lvl1pPr>
          </a:lstStyle>
          <a:p>
            <a:pPr/>
            <a:r>
              <a:t>Threshold bands: minimumVisible = 20% of peak floor 0.002 · reliableMovement = 35% of peak floor 0.004 · baselineTarget = max peak</a:t>
            </a:r>
          </a:p>
        </p:txBody>
      </p:sp>
      <p:sp>
        <p:nvSpPr>
          <p:cNvPr id="364" name="Text 29"/>
          <p:cNvSpPr txBox="1"/>
          <p:nvPr/>
        </p:nvSpPr>
        <p:spPr>
          <a:xfrm>
            <a:off x="1810511" y="5897879"/>
            <a:ext cx="790956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900">
                <a:solidFill>
                  <a:srgbClr val="4E5F6E"/>
                </a:solidFill>
              </a:defRPr>
            </a:lvl1pPr>
          </a:lstStyle>
          <a:p>
            <a:pPr/>
            <a:r>
              <a:t>Nose baselines use lower nose-specific thresholds because nostril flare is typically only 1–2% of inter-ocular distance.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7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PRODUCT INTELLIGENCE</a:t>
            </a:r>
          </a:p>
        </p:txBody>
      </p:sp>
      <p:sp>
        <p:nvSpPr>
          <p:cNvPr id="369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Adaptive practice: recommendations with guardrails</a:t>
            </a:r>
          </a:p>
        </p:txBody>
      </p:sp>
      <p:sp>
        <p:nvSpPr>
          <p:cNvPr id="370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71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373" name="Text 7"/>
          <p:cNvSpPr txBox="1"/>
          <p:nvPr/>
        </p:nvSpPr>
        <p:spPr>
          <a:xfrm>
            <a:off x="621791" y="1572767"/>
            <a:ext cx="1005840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The app prioritizes useful practice without pretending noisy scores are insight. This is the part where “move fast” would have shipped dangerous nonsense.</a:t>
            </a:r>
          </a:p>
        </p:txBody>
      </p:sp>
      <p:sp>
        <p:nvSpPr>
          <p:cNvPr id="374" name="Shape 8"/>
          <p:cNvSpPr/>
          <p:nvPr/>
        </p:nvSpPr>
        <p:spPr>
          <a:xfrm>
            <a:off x="777240" y="2423160"/>
            <a:ext cx="3017521" cy="3200401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" name="Text 9"/>
          <p:cNvSpPr txBox="1"/>
          <p:nvPr/>
        </p:nvSpPr>
        <p:spPr>
          <a:xfrm>
            <a:off x="1051560" y="2697479"/>
            <a:ext cx="91440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INPUTS</a:t>
            </a:r>
          </a:p>
        </p:txBody>
      </p:sp>
      <p:sp>
        <p:nvSpPr>
          <p:cNvPr id="376" name="Text 10"/>
          <p:cNvSpPr txBox="1"/>
          <p:nvPr/>
        </p:nvSpPr>
        <p:spPr>
          <a:xfrm>
            <a:off x="1143000" y="3063239"/>
            <a:ext cx="2240280" cy="1737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100">
                <a:solidFill>
                  <a:srgbClr val="4E5F6E"/>
                </a:solidFill>
              </a:defRPr>
            </a:pPr>
            <a:r>
              <a:t>Baseline symmetry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Affected-side progress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Affected/proper ratio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Recent session quality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Journal fatigue / pain prompts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Quiet-region coactivation risk</a:t>
            </a:r>
          </a:p>
        </p:txBody>
      </p:sp>
      <p:sp>
        <p:nvSpPr>
          <p:cNvPr id="377" name="Shape 11"/>
          <p:cNvSpPr/>
          <p:nvPr/>
        </p:nvSpPr>
        <p:spPr>
          <a:xfrm>
            <a:off x="4041647" y="3886200"/>
            <a:ext cx="841249" cy="0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Shape 12"/>
          <p:cNvSpPr/>
          <p:nvPr/>
        </p:nvSpPr>
        <p:spPr>
          <a:xfrm>
            <a:off x="5010911" y="2788920"/>
            <a:ext cx="2331722" cy="2331721"/>
          </a:xfrm>
          <a:prstGeom prst="roundRect">
            <a:avLst>
              <a:gd name="adj" fmla="val 3137"/>
            </a:avLst>
          </a:prstGeom>
          <a:solidFill>
            <a:srgbClr val="E6F4F4"/>
          </a:solidFill>
          <a:ln w="10160">
            <a:solidFill>
              <a:srgbClr val="BFE4E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" name="Text 13"/>
          <p:cNvSpPr txBox="1"/>
          <p:nvPr/>
        </p:nvSpPr>
        <p:spPr>
          <a:xfrm>
            <a:off x="5468111" y="3273552"/>
            <a:ext cx="1417321" cy="676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 defTabSz="850391">
              <a:defRPr b="1" sz="1860">
                <a:solidFill>
                  <a:srgbClr val="0A1F33"/>
                </a:solidFill>
              </a:defRPr>
            </a:pPr>
            <a:r>
              <a:t>Adaptive</a:t>
            </a:r>
          </a:p>
          <a:p>
            <a:pPr algn="ctr" defTabSz="850391">
              <a:defRPr b="1" sz="1860">
                <a:solidFill>
                  <a:srgbClr val="0A1F33"/>
                </a:solidFill>
              </a:defRPr>
            </a:pPr>
            <a:r>
              <a:t>plan ranking</a:t>
            </a:r>
          </a:p>
        </p:txBody>
      </p:sp>
      <p:sp>
        <p:nvSpPr>
          <p:cNvPr id="380" name="Text 14"/>
          <p:cNvSpPr txBox="1"/>
          <p:nvPr/>
        </p:nvSpPr>
        <p:spPr>
          <a:xfrm>
            <a:off x="5321808" y="4251959"/>
            <a:ext cx="1719073" cy="402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900">
                <a:solidFill>
                  <a:srgbClr val="4E5F6E"/>
                </a:solidFill>
              </a:defRPr>
            </a:lvl1pPr>
          </a:lstStyle>
          <a:p>
            <a:pPr/>
            <a:r>
              <a:t>no intensity boost from stale / noisy / risky evidence</a:t>
            </a:r>
          </a:p>
        </p:txBody>
      </p:sp>
      <p:sp>
        <p:nvSpPr>
          <p:cNvPr id="381" name="Shape 15"/>
          <p:cNvSpPr/>
          <p:nvPr/>
        </p:nvSpPr>
        <p:spPr>
          <a:xfrm>
            <a:off x="7498080" y="3886200"/>
            <a:ext cx="841249" cy="0"/>
          </a:xfrm>
          <a:prstGeom prst="line">
            <a:avLst/>
          </a:prstGeom>
          <a:ln w="19050">
            <a:solidFill>
              <a:srgbClr val="1A9FA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82" name="Shape 16"/>
          <p:cNvSpPr/>
          <p:nvPr/>
        </p:nvSpPr>
        <p:spPr>
          <a:xfrm>
            <a:off x="8485631" y="2423160"/>
            <a:ext cx="3017521" cy="3200401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" name="Text 17"/>
          <p:cNvSpPr txBox="1"/>
          <p:nvPr/>
        </p:nvSpPr>
        <p:spPr>
          <a:xfrm>
            <a:off x="8759952" y="2697479"/>
            <a:ext cx="109728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3B8B74"/>
                </a:solidFill>
              </a:defRPr>
            </a:lvl1pPr>
          </a:lstStyle>
          <a:p>
            <a:pPr/>
            <a:r>
              <a:t>OUTPUTS</a:t>
            </a:r>
          </a:p>
        </p:txBody>
      </p:sp>
      <p:sp>
        <p:nvSpPr>
          <p:cNvPr id="384" name="Text 18"/>
          <p:cNvSpPr txBox="1"/>
          <p:nvPr/>
        </p:nvSpPr>
        <p:spPr>
          <a:xfrm>
            <a:off x="8851392" y="3063239"/>
            <a:ext cx="2148841" cy="1508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100">
                <a:solidFill>
                  <a:srgbClr val="4E5F6E"/>
                </a:solidFill>
              </a:defRPr>
            </a:pPr>
            <a:r>
              <a:t>Daily focus movements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Comfort-level dose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Live baseline-relative feedback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Trend status: collecting, stable, improving, low confidence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7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8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ASSESSMENT</a:t>
            </a:r>
          </a:p>
        </p:txBody>
      </p:sp>
      <p:sp>
        <p:nvSpPr>
          <p:cNvPr id="389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Standard assessments make progress reviewable</a:t>
            </a:r>
          </a:p>
        </p:txBody>
      </p:sp>
      <p:sp>
        <p:nvSpPr>
          <p:cNvPr id="390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391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2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393" name="Text 7"/>
          <p:cNvSpPr txBox="1"/>
          <p:nvPr/>
        </p:nvSpPr>
        <p:spPr>
          <a:xfrm>
            <a:off x="621791" y="1572767"/>
            <a:ext cx="1005840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Daily practice and standardized assessment should not be mashed together. Mirror stores assessment records separately so trends can be compared cleanly.</a:t>
            </a:r>
          </a:p>
        </p:txBody>
      </p:sp>
      <p:sp>
        <p:nvSpPr>
          <p:cNvPr id="394" name="Shape 8"/>
          <p:cNvSpPr/>
          <p:nvPr/>
        </p:nvSpPr>
        <p:spPr>
          <a:xfrm>
            <a:off x="822960" y="2331720"/>
            <a:ext cx="3749041" cy="3200401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" name="Text 9"/>
          <p:cNvSpPr txBox="1"/>
          <p:nvPr/>
        </p:nvSpPr>
        <p:spPr>
          <a:xfrm>
            <a:off x="1097280" y="2651760"/>
            <a:ext cx="182880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FIXED MOVEMENT SET</a:t>
            </a:r>
          </a:p>
        </p:txBody>
      </p:sp>
      <p:sp>
        <p:nvSpPr>
          <p:cNvPr id="396" name="Text 10"/>
          <p:cNvSpPr txBox="1"/>
          <p:nvPr/>
        </p:nvSpPr>
        <p:spPr>
          <a:xfrm>
            <a:off x="1143000" y="3035807"/>
            <a:ext cx="310896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97" name="Text 11"/>
          <p:cNvSpPr txBox="1"/>
          <p:nvPr/>
        </p:nvSpPr>
        <p:spPr>
          <a:xfrm>
            <a:off x="1600200" y="2999232"/>
            <a:ext cx="23317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0A1F33"/>
                </a:solidFill>
              </a:defRPr>
            </a:lvl1pPr>
          </a:lstStyle>
          <a:p>
            <a:pPr/>
            <a:r>
              <a:t>Eyebrow raise</a:t>
            </a:r>
          </a:p>
        </p:txBody>
      </p:sp>
      <p:sp>
        <p:nvSpPr>
          <p:cNvPr id="398" name="Text 12"/>
          <p:cNvSpPr txBox="1"/>
          <p:nvPr/>
        </p:nvSpPr>
        <p:spPr>
          <a:xfrm>
            <a:off x="1143000" y="3419855"/>
            <a:ext cx="310896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99" name="Text 13"/>
          <p:cNvSpPr txBox="1"/>
          <p:nvPr/>
        </p:nvSpPr>
        <p:spPr>
          <a:xfrm>
            <a:off x="1600200" y="3383279"/>
            <a:ext cx="23317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0A1F33"/>
                </a:solidFill>
              </a:defRPr>
            </a:lvl1pPr>
          </a:lstStyle>
          <a:p>
            <a:pPr/>
            <a:r>
              <a:t>Gentle eye closure</a:t>
            </a:r>
          </a:p>
        </p:txBody>
      </p:sp>
      <p:sp>
        <p:nvSpPr>
          <p:cNvPr id="400" name="Text 14"/>
          <p:cNvSpPr txBox="1"/>
          <p:nvPr/>
        </p:nvSpPr>
        <p:spPr>
          <a:xfrm>
            <a:off x="1143000" y="3803903"/>
            <a:ext cx="310896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01" name="Text 15"/>
          <p:cNvSpPr txBox="1"/>
          <p:nvPr/>
        </p:nvSpPr>
        <p:spPr>
          <a:xfrm>
            <a:off x="1600200" y="3767328"/>
            <a:ext cx="23317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0A1F33"/>
                </a:solidFill>
              </a:defRPr>
            </a:lvl1pPr>
          </a:lstStyle>
          <a:p>
            <a:pPr/>
            <a:r>
              <a:t>Open smile</a:t>
            </a:r>
          </a:p>
        </p:txBody>
      </p:sp>
      <p:sp>
        <p:nvSpPr>
          <p:cNvPr id="402" name="Text 16"/>
          <p:cNvSpPr txBox="1"/>
          <p:nvPr/>
        </p:nvSpPr>
        <p:spPr>
          <a:xfrm>
            <a:off x="1143000" y="4187952"/>
            <a:ext cx="310896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03" name="Text 17"/>
          <p:cNvSpPr txBox="1"/>
          <p:nvPr/>
        </p:nvSpPr>
        <p:spPr>
          <a:xfrm>
            <a:off x="1600200" y="4151376"/>
            <a:ext cx="23317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0A1F33"/>
                </a:solidFill>
              </a:defRPr>
            </a:lvl1pPr>
          </a:lstStyle>
          <a:p>
            <a:pPr/>
            <a:r>
              <a:t>Nose wrinkle / snarl</a:t>
            </a:r>
          </a:p>
        </p:txBody>
      </p:sp>
      <p:sp>
        <p:nvSpPr>
          <p:cNvPr id="404" name="Text 18"/>
          <p:cNvSpPr txBox="1"/>
          <p:nvPr/>
        </p:nvSpPr>
        <p:spPr>
          <a:xfrm>
            <a:off x="1143000" y="4572000"/>
            <a:ext cx="310896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405" name="Text 19"/>
          <p:cNvSpPr txBox="1"/>
          <p:nvPr/>
        </p:nvSpPr>
        <p:spPr>
          <a:xfrm>
            <a:off x="1600200" y="4535423"/>
            <a:ext cx="23317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200">
                <a:solidFill>
                  <a:srgbClr val="0A1F33"/>
                </a:solidFill>
              </a:defRPr>
            </a:lvl1pPr>
          </a:lstStyle>
          <a:p>
            <a:pPr/>
            <a:r>
              <a:t>Lip pucker</a:t>
            </a:r>
          </a:p>
        </p:txBody>
      </p:sp>
      <p:sp>
        <p:nvSpPr>
          <p:cNvPr id="406" name="Shape 20"/>
          <p:cNvSpPr/>
          <p:nvPr/>
        </p:nvSpPr>
        <p:spPr>
          <a:xfrm>
            <a:off x="5074920" y="2331720"/>
            <a:ext cx="6035041" cy="3200401"/>
          </a:xfrm>
          <a:prstGeom prst="roundRect">
            <a:avLst>
              <a:gd name="adj" fmla="val 2286"/>
            </a:avLst>
          </a:prstGeom>
          <a:solidFill>
            <a:srgbClr val="FBFAF7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" name="Text 21"/>
          <p:cNvSpPr txBox="1"/>
          <p:nvPr/>
        </p:nvSpPr>
        <p:spPr>
          <a:xfrm>
            <a:off x="5349240" y="2651760"/>
            <a:ext cx="137160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C58B36"/>
                </a:solidFill>
              </a:defRPr>
            </a:lvl1pPr>
          </a:lstStyle>
          <a:p>
            <a:pPr/>
            <a:r>
              <a:t>STORED RECORD</a:t>
            </a:r>
          </a:p>
        </p:txBody>
      </p:sp>
      <p:sp>
        <p:nvSpPr>
          <p:cNvPr id="408" name="Text 22"/>
          <p:cNvSpPr txBox="1"/>
          <p:nvPr/>
        </p:nvSpPr>
        <p:spPr>
          <a:xfrm>
            <a:off x="5394959" y="3063239"/>
            <a:ext cx="150876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100">
                <a:solidFill>
                  <a:srgbClr val="0A1F33"/>
                </a:solidFill>
              </a:defRPr>
            </a:lvl1pPr>
          </a:lstStyle>
          <a:p>
            <a:pPr/>
            <a:r>
              <a:t>Rest metrics</a:t>
            </a:r>
          </a:p>
        </p:txBody>
      </p:sp>
      <p:sp>
        <p:nvSpPr>
          <p:cNvPr id="409" name="Text 23"/>
          <p:cNvSpPr txBox="1"/>
          <p:nvPr/>
        </p:nvSpPr>
        <p:spPr>
          <a:xfrm>
            <a:off x="6903719" y="3063239"/>
            <a:ext cx="32461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palpebral fissure · midface proxy · mouth-corner height</a:t>
            </a:r>
          </a:p>
        </p:txBody>
      </p:sp>
      <p:sp>
        <p:nvSpPr>
          <p:cNvPr id="410" name="Text 24"/>
          <p:cNvSpPr txBox="1"/>
          <p:nvPr/>
        </p:nvSpPr>
        <p:spPr>
          <a:xfrm>
            <a:off x="5394959" y="3538728"/>
            <a:ext cx="150876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100">
                <a:solidFill>
                  <a:srgbClr val="0A1F33"/>
                </a:solidFill>
              </a:defRPr>
            </a:lvl1pPr>
          </a:lstStyle>
          <a:p>
            <a:pPr/>
            <a:r>
              <a:t>Voluntary movement</a:t>
            </a:r>
          </a:p>
        </p:txBody>
      </p:sp>
      <p:sp>
        <p:nvSpPr>
          <p:cNvPr id="411" name="Text 25"/>
          <p:cNvSpPr txBox="1"/>
          <p:nvPr/>
        </p:nvSpPr>
        <p:spPr>
          <a:xfrm>
            <a:off x="6903719" y="3538728"/>
            <a:ext cx="32461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brow / eye / midface-nose / mouth zones</a:t>
            </a:r>
          </a:p>
        </p:txBody>
      </p:sp>
      <p:sp>
        <p:nvSpPr>
          <p:cNvPr id="412" name="Text 26"/>
          <p:cNvSpPr txBox="1"/>
          <p:nvPr/>
        </p:nvSpPr>
        <p:spPr>
          <a:xfrm>
            <a:off x="5394959" y="4014215"/>
            <a:ext cx="150876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100">
                <a:solidFill>
                  <a:srgbClr val="0A1F33"/>
                </a:solidFill>
              </a:defRPr>
            </a:lvl1pPr>
          </a:lstStyle>
          <a:p>
            <a:pPr/>
            <a:r>
              <a:t>Coactivation risk</a:t>
            </a:r>
          </a:p>
        </p:txBody>
      </p:sp>
      <p:sp>
        <p:nvSpPr>
          <p:cNvPr id="413" name="Text 27"/>
          <p:cNvSpPr txBox="1"/>
          <p:nvPr/>
        </p:nvSpPr>
        <p:spPr>
          <a:xfrm>
            <a:off x="6903719" y="4014215"/>
            <a:ext cx="32461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quiet-region movement during intended movements</a:t>
            </a:r>
          </a:p>
        </p:txBody>
      </p:sp>
      <p:sp>
        <p:nvSpPr>
          <p:cNvPr id="414" name="Text 28"/>
          <p:cNvSpPr txBox="1"/>
          <p:nvPr/>
        </p:nvSpPr>
        <p:spPr>
          <a:xfrm>
            <a:off x="5394959" y="4489703"/>
            <a:ext cx="150876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100">
                <a:solidFill>
                  <a:srgbClr val="0A1F33"/>
                </a:solidFill>
              </a:defRPr>
            </a:lvl1pPr>
          </a:lstStyle>
          <a:p>
            <a:pPr/>
            <a:r>
              <a:t>Report linkage</a:t>
            </a:r>
          </a:p>
        </p:txBody>
      </p:sp>
      <p:sp>
        <p:nvSpPr>
          <p:cNvPr id="415" name="Text 29"/>
          <p:cNvSpPr txBox="1"/>
          <p:nvPr/>
        </p:nvSpPr>
        <p:spPr>
          <a:xfrm>
            <a:off x="6903719" y="4489703"/>
            <a:ext cx="32461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source session images and printable report</a:t>
            </a:r>
          </a:p>
        </p:txBody>
      </p:sp>
      <p:sp>
        <p:nvSpPr>
          <p:cNvPr id="416" name="Shape 30"/>
          <p:cNvSpPr/>
          <p:nvPr/>
        </p:nvSpPr>
        <p:spPr>
          <a:xfrm>
            <a:off x="1143000" y="5989320"/>
            <a:ext cx="9326881" cy="347473"/>
          </a:xfrm>
          <a:prstGeom prst="roundRect">
            <a:avLst>
              <a:gd name="adj" fmla="val 15789"/>
            </a:avLst>
          </a:prstGeom>
          <a:solidFill>
            <a:srgbClr val="F4E5D1"/>
          </a:solidFill>
          <a:ln w="10160">
            <a:solidFill>
              <a:srgbClr val="C58B36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Shape 31"/>
          <p:cNvSpPr/>
          <p:nvPr/>
        </p:nvSpPr>
        <p:spPr>
          <a:xfrm>
            <a:off x="1143000" y="5989320"/>
            <a:ext cx="64008" cy="347473"/>
          </a:xfrm>
          <a:prstGeom prst="rect">
            <a:avLst/>
          </a:prstGeom>
          <a:solidFill>
            <a:srgbClr val="C58B3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8" name="Text 32"/>
          <p:cNvSpPr txBox="1"/>
          <p:nvPr/>
        </p:nvSpPr>
        <p:spPr>
          <a:xfrm>
            <a:off x="1307592" y="6126479"/>
            <a:ext cx="9015984" cy="109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649223">
              <a:defRPr sz="710">
                <a:solidFill>
                  <a:srgbClr val="0A1F33"/>
                </a:solidFill>
              </a:defRPr>
            </a:lvl1pPr>
          </a:lstStyle>
          <a:p>
            <a:pPr/>
            <a:r>
              <a:t>Assessment sessions do not count toward daily practice goals or streaks.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1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NON-NEGOTIABLE CAVEAT</a:t>
            </a:r>
          </a:p>
        </p:txBody>
      </p:sp>
      <p:sp>
        <p:nvSpPr>
          <p:cNvPr id="423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68680">
              <a:defRPr b="1" sz="2755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Clinical-scale estimates: useful, fenced, not clinical grades</a:t>
            </a:r>
          </a:p>
        </p:txBody>
      </p:sp>
      <p:sp>
        <p:nvSpPr>
          <p:cNvPr id="424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425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6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427" name="Text 7"/>
          <p:cNvSpPr txBox="1"/>
          <p:nvPr/>
        </p:nvSpPr>
        <p:spPr>
          <a:xfrm>
            <a:off x="621791" y="1572767"/>
            <a:ext cx="1014984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Dedicated caveat, because this is where sloppy decks get people in trouble. Mirror can show scale-inspired self-tracking estimates, but it does not diagnose, grade paralysis, or replace clinician assessment.</a:t>
            </a:r>
          </a:p>
        </p:txBody>
      </p:sp>
      <p:sp>
        <p:nvSpPr>
          <p:cNvPr id="428" name="Shape 8"/>
          <p:cNvSpPr/>
          <p:nvPr/>
        </p:nvSpPr>
        <p:spPr>
          <a:xfrm>
            <a:off x="713231" y="2487167"/>
            <a:ext cx="3520442" cy="2487169"/>
          </a:xfrm>
          <a:prstGeom prst="roundRect">
            <a:avLst>
              <a:gd name="adj" fmla="val 2941"/>
            </a:avLst>
          </a:prstGeom>
          <a:solidFill>
            <a:srgbClr val="E6F4F4"/>
          </a:solidFill>
          <a:ln w="10160">
            <a:solidFill>
              <a:srgbClr val="BFE4E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" name="Text 9"/>
          <p:cNvSpPr txBox="1"/>
          <p:nvPr/>
        </p:nvSpPr>
        <p:spPr>
          <a:xfrm>
            <a:off x="987552" y="2761488"/>
            <a:ext cx="182880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DISPLAY EVIDENCE GATE</a:t>
            </a:r>
          </a:p>
        </p:txBody>
      </p:sp>
      <p:sp>
        <p:nvSpPr>
          <p:cNvPr id="430" name="Text 10"/>
          <p:cNvSpPr txBox="1"/>
          <p:nvPr/>
        </p:nvSpPr>
        <p:spPr>
          <a:xfrm>
            <a:off x="1024127" y="3154679"/>
            <a:ext cx="2011680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700">
                <a:solidFill>
                  <a:srgbClr val="1A9FA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60%</a:t>
            </a:r>
          </a:p>
        </p:txBody>
      </p:sp>
      <p:sp>
        <p:nvSpPr>
          <p:cNvPr id="431" name="Text 11"/>
          <p:cNvSpPr txBox="1"/>
          <p:nvPr/>
        </p:nvSpPr>
        <p:spPr>
          <a:xfrm>
            <a:off x="1024127" y="3593591"/>
            <a:ext cx="2011680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usable standard-assessment movement coverage</a:t>
            </a:r>
          </a:p>
        </p:txBody>
      </p:sp>
      <p:sp>
        <p:nvSpPr>
          <p:cNvPr id="432" name="Text 12"/>
          <p:cNvSpPr txBox="1"/>
          <p:nvPr/>
        </p:nvSpPr>
        <p:spPr>
          <a:xfrm>
            <a:off x="1024127" y="4224528"/>
            <a:ext cx="2633473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plus complete resting asymmetry metrics and usable/strong capture quality where present.</a:t>
            </a:r>
          </a:p>
        </p:txBody>
      </p:sp>
      <p:sp>
        <p:nvSpPr>
          <p:cNvPr id="433" name="Shape 13"/>
          <p:cNvSpPr/>
          <p:nvPr/>
        </p:nvSpPr>
        <p:spPr>
          <a:xfrm>
            <a:off x="4480559" y="2487167"/>
            <a:ext cx="3520441" cy="2487169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" name="Text 14"/>
          <p:cNvSpPr txBox="1"/>
          <p:nvPr/>
        </p:nvSpPr>
        <p:spPr>
          <a:xfrm>
            <a:off x="4754879" y="2761488"/>
            <a:ext cx="182880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C58B36"/>
                </a:solidFill>
              </a:defRPr>
            </a:lvl1pPr>
          </a:lstStyle>
          <a:p>
            <a:pPr/>
            <a:r>
              <a:t>ESTIMATES PRODUCED</a:t>
            </a:r>
          </a:p>
        </p:txBody>
      </p:sp>
      <p:sp>
        <p:nvSpPr>
          <p:cNvPr id="435" name="Text 15"/>
          <p:cNvSpPr txBox="1"/>
          <p:nvPr/>
        </p:nvSpPr>
        <p:spPr>
          <a:xfrm>
            <a:off x="4846320" y="3200400"/>
            <a:ext cx="2606041" cy="1024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100">
                <a:solidFill>
                  <a:srgbClr val="4E5F6E"/>
                </a:solidFill>
              </a:defRPr>
            </a:pPr>
            <a:r>
              <a:t>House-Brackmann-inspired global estimate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Sunnybrook-style composite estimate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eFACE-style static / dynamic / synkinesis proxies</a:t>
            </a:r>
          </a:p>
        </p:txBody>
      </p:sp>
      <p:sp>
        <p:nvSpPr>
          <p:cNvPr id="436" name="Text 16"/>
          <p:cNvSpPr txBox="1"/>
          <p:nvPr/>
        </p:nvSpPr>
        <p:spPr>
          <a:xfrm>
            <a:off x="4864608" y="4407408"/>
            <a:ext cx="248716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900">
                <a:solidFill>
                  <a:srgbClr val="71808E"/>
                </a:solidFill>
              </a:defRPr>
            </a:lvl1pPr>
          </a:lstStyle>
          <a:p>
            <a:pPr/>
            <a:r>
              <a:t>v5: partial estimates omit weak/missing movements instead of treating them as zero.</a:t>
            </a:r>
          </a:p>
        </p:txBody>
      </p:sp>
      <p:sp>
        <p:nvSpPr>
          <p:cNvPr id="437" name="Shape 17"/>
          <p:cNvSpPr/>
          <p:nvPr/>
        </p:nvSpPr>
        <p:spPr>
          <a:xfrm>
            <a:off x="8247888" y="2487167"/>
            <a:ext cx="2971801" cy="2487169"/>
          </a:xfrm>
          <a:prstGeom prst="roundRect">
            <a:avLst>
              <a:gd name="adj" fmla="val 2941"/>
            </a:avLst>
          </a:prstGeom>
          <a:solidFill>
            <a:srgbClr val="F3E2E2"/>
          </a:solidFill>
          <a:ln w="10160">
            <a:solidFill>
              <a:srgbClr val="B65C5C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" name="Text 18"/>
          <p:cNvSpPr txBox="1"/>
          <p:nvPr/>
        </p:nvSpPr>
        <p:spPr>
          <a:xfrm>
            <a:off x="8522207" y="2761488"/>
            <a:ext cx="192024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B65C5C"/>
                </a:solidFill>
              </a:defRPr>
            </a:lvl1pPr>
          </a:lstStyle>
          <a:p>
            <a:pPr/>
            <a:r>
              <a:t>VALIDATION RELEASE GATE</a:t>
            </a:r>
          </a:p>
        </p:txBody>
      </p:sp>
      <p:sp>
        <p:nvSpPr>
          <p:cNvPr id="439" name="Text 19"/>
          <p:cNvSpPr txBox="1"/>
          <p:nvPr/>
        </p:nvSpPr>
        <p:spPr>
          <a:xfrm>
            <a:off x="8549640" y="3154679"/>
            <a:ext cx="1920241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700">
                <a:solidFill>
                  <a:srgbClr val="B65C5C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80%</a:t>
            </a:r>
          </a:p>
        </p:txBody>
      </p:sp>
      <p:sp>
        <p:nvSpPr>
          <p:cNvPr id="440" name="Text 20"/>
          <p:cNvSpPr txBox="1"/>
          <p:nvPr/>
        </p:nvSpPr>
        <p:spPr>
          <a:xfrm>
            <a:off x="8549640" y="3593591"/>
            <a:ext cx="192024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observed agreement + Wilson lower bound</a:t>
            </a:r>
          </a:p>
        </p:txBody>
      </p:sp>
      <p:sp>
        <p:nvSpPr>
          <p:cNvPr id="441" name="Text 21"/>
          <p:cNvSpPr txBox="1"/>
          <p:nvPr/>
        </p:nvSpPr>
        <p:spPr>
          <a:xfrm>
            <a:off x="8540495" y="4224528"/>
            <a:ext cx="2148841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50391">
              <a:defRPr sz="837">
                <a:solidFill>
                  <a:srgbClr val="4E5F6E"/>
                </a:solidFill>
              </a:defRPr>
            </a:lvl1pPr>
          </a:lstStyle>
          <a:p>
            <a:pPr/>
            <a:r>
              <a:t>Requires reviewed clinical labels, 30 assessments, 10 distinct cases, source hashes, reviewer controls, and status update.</a:t>
            </a:r>
          </a:p>
        </p:txBody>
      </p:sp>
      <p:sp>
        <p:nvSpPr>
          <p:cNvPr id="442" name="Shape 22"/>
          <p:cNvSpPr/>
          <p:nvPr/>
        </p:nvSpPr>
        <p:spPr>
          <a:xfrm>
            <a:off x="1078991" y="5632703"/>
            <a:ext cx="9692642" cy="475489"/>
          </a:xfrm>
          <a:prstGeom prst="roundRect">
            <a:avLst>
              <a:gd name="adj" fmla="val 11538"/>
            </a:avLst>
          </a:prstGeom>
          <a:solidFill>
            <a:srgbClr val="FBFAF7"/>
          </a:solidFill>
          <a:ln w="10160">
            <a:solidFill>
              <a:srgbClr val="123047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3" name="Shape 23"/>
          <p:cNvSpPr/>
          <p:nvPr/>
        </p:nvSpPr>
        <p:spPr>
          <a:xfrm>
            <a:off x="1078991" y="5632703"/>
            <a:ext cx="64009" cy="475488"/>
          </a:xfrm>
          <a:prstGeom prst="rect">
            <a:avLst/>
          </a:prstGeom>
          <a:solidFill>
            <a:srgbClr val="123047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4" name="Text 24"/>
          <p:cNvSpPr txBox="1"/>
          <p:nvPr/>
        </p:nvSpPr>
        <p:spPr>
          <a:xfrm>
            <a:off x="1243584" y="5769864"/>
            <a:ext cx="9381744" cy="23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A1F33"/>
                </a:solidFill>
              </a:defRPr>
            </a:lvl1pPr>
          </a:lstStyle>
          <a:p>
            <a:pPr/>
            <a:r>
              <a:t>Current status: clinicalFacingScoresAllowed = false. The app remains estimate-only until reviewed evidence exists.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8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OUTPUTS</a:t>
            </a:r>
          </a:p>
        </p:txBody>
      </p:sp>
      <p:sp>
        <p:nvSpPr>
          <p:cNvPr id="449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59536">
              <a:defRPr b="1" sz="2726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Reports and exports turn practice into reviewable evidence</a:t>
            </a:r>
          </a:p>
        </p:txBody>
      </p:sp>
      <p:sp>
        <p:nvSpPr>
          <p:cNvPr id="450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451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2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453" name="Text 7"/>
          <p:cNvSpPr txBox="1"/>
          <p:nvPr/>
        </p:nvSpPr>
        <p:spPr>
          <a:xfrm>
            <a:off x="621791" y="1572767"/>
            <a:ext cx="1005840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The user controls every export. Mirror packages context, quality, and trend evidence so a clinician is not staring at a naked score with no provenance.</a:t>
            </a:r>
          </a:p>
        </p:txBody>
      </p:sp>
      <p:sp>
        <p:nvSpPr>
          <p:cNvPr id="454" name="Shape 8"/>
          <p:cNvSpPr/>
          <p:nvPr/>
        </p:nvSpPr>
        <p:spPr>
          <a:xfrm>
            <a:off x="777240" y="2468879"/>
            <a:ext cx="3154680" cy="2926081"/>
          </a:xfrm>
          <a:prstGeom prst="roundRect">
            <a:avLst>
              <a:gd name="adj" fmla="val 2500"/>
            </a:avLst>
          </a:prstGeom>
          <a:solidFill>
            <a:srgbClr val="E6F4F4"/>
          </a:solidFill>
          <a:ln w="10160">
            <a:solidFill>
              <a:srgbClr val="1A9FA6">
                <a:alpha val="55000"/>
              </a:srgbClr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5" name="Text 9"/>
          <p:cNvSpPr txBox="1"/>
          <p:nvPr/>
        </p:nvSpPr>
        <p:spPr>
          <a:xfrm>
            <a:off x="1014983" y="2761488"/>
            <a:ext cx="109728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EXPORT 1</a:t>
            </a:r>
          </a:p>
        </p:txBody>
      </p:sp>
      <p:sp>
        <p:nvSpPr>
          <p:cNvPr id="456" name="Text 10"/>
          <p:cNvSpPr txBox="1"/>
          <p:nvPr/>
        </p:nvSpPr>
        <p:spPr>
          <a:xfrm>
            <a:off x="1014983" y="3063239"/>
            <a:ext cx="2423162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700">
                <a:solidFill>
                  <a:srgbClr val="0A1F33"/>
                </a:solidFill>
              </a:defRPr>
            </a:lvl1pPr>
          </a:lstStyle>
          <a:p>
            <a:pPr/>
            <a:r>
              <a:t>Printable report</a:t>
            </a:r>
          </a:p>
        </p:txBody>
      </p:sp>
      <p:sp>
        <p:nvSpPr>
          <p:cNvPr id="457" name="Text 11"/>
          <p:cNvSpPr txBox="1"/>
          <p:nvPr/>
        </p:nvSpPr>
        <p:spPr>
          <a:xfrm>
            <a:off x="1014983" y="3566159"/>
            <a:ext cx="2606041" cy="115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Session date, comfort level, setup quality, symmetry, per-rep chips, affected-side progress, baseline/current images, safety notes.</a:t>
            </a:r>
          </a:p>
        </p:txBody>
      </p:sp>
      <p:sp>
        <p:nvSpPr>
          <p:cNvPr id="458" name="Shape 12"/>
          <p:cNvSpPr/>
          <p:nvPr/>
        </p:nvSpPr>
        <p:spPr>
          <a:xfrm>
            <a:off x="4480559" y="2468879"/>
            <a:ext cx="3154681" cy="2926081"/>
          </a:xfrm>
          <a:prstGeom prst="roundRect">
            <a:avLst>
              <a:gd name="adj" fmla="val 2500"/>
            </a:avLst>
          </a:prstGeom>
          <a:solidFill>
            <a:srgbClr val="E4F2EC"/>
          </a:solidFill>
          <a:ln w="10160">
            <a:solidFill>
              <a:srgbClr val="3B8B74">
                <a:alpha val="55000"/>
              </a:srgbClr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9" name="Text 13"/>
          <p:cNvSpPr txBox="1"/>
          <p:nvPr/>
        </p:nvSpPr>
        <p:spPr>
          <a:xfrm>
            <a:off x="4718303" y="2761488"/>
            <a:ext cx="109728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3B8B74"/>
                </a:solidFill>
              </a:defRPr>
            </a:lvl1pPr>
          </a:lstStyle>
          <a:p>
            <a:pPr/>
            <a:r>
              <a:t>EXPORT 2</a:t>
            </a:r>
          </a:p>
        </p:txBody>
      </p:sp>
      <p:sp>
        <p:nvSpPr>
          <p:cNvPr id="460" name="Text 14"/>
          <p:cNvSpPr txBox="1"/>
          <p:nvPr/>
        </p:nvSpPr>
        <p:spPr>
          <a:xfrm>
            <a:off x="4718303" y="3063239"/>
            <a:ext cx="242316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700">
                <a:solidFill>
                  <a:srgbClr val="0A1F33"/>
                </a:solidFill>
              </a:defRPr>
            </a:lvl1pPr>
          </a:lstStyle>
          <a:p>
            <a:pPr/>
            <a:r>
              <a:t>Clinician bundle</a:t>
            </a:r>
          </a:p>
        </p:txBody>
      </p:sp>
      <p:sp>
        <p:nvSpPr>
          <p:cNvPr id="461" name="Text 15"/>
          <p:cNvSpPr txBox="1"/>
          <p:nvPr/>
        </p:nvSpPr>
        <p:spPr>
          <a:xfrm>
            <a:off x="4718303" y="3566159"/>
            <a:ext cx="2606041" cy="115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JSONL review package with assessments, comparisons, sessions, journal notes, quality flags, selected images, frame samples.</a:t>
            </a:r>
          </a:p>
        </p:txBody>
      </p:sp>
      <p:sp>
        <p:nvSpPr>
          <p:cNvPr id="462" name="Shape 16"/>
          <p:cNvSpPr/>
          <p:nvPr/>
        </p:nvSpPr>
        <p:spPr>
          <a:xfrm>
            <a:off x="8183880" y="2468879"/>
            <a:ext cx="3154681" cy="2926081"/>
          </a:xfrm>
          <a:prstGeom prst="roundRect">
            <a:avLst>
              <a:gd name="adj" fmla="val 2500"/>
            </a:avLst>
          </a:prstGeom>
          <a:solidFill>
            <a:srgbClr val="F4E5D1"/>
          </a:solidFill>
          <a:ln w="10160">
            <a:solidFill>
              <a:srgbClr val="C58B36">
                <a:alpha val="55000"/>
              </a:srgbClr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3" name="Text 17"/>
          <p:cNvSpPr txBox="1"/>
          <p:nvPr/>
        </p:nvSpPr>
        <p:spPr>
          <a:xfrm>
            <a:off x="8421623" y="2761488"/>
            <a:ext cx="109728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C58B36"/>
                </a:solidFill>
              </a:defRPr>
            </a:lvl1pPr>
          </a:lstStyle>
          <a:p>
            <a:pPr/>
            <a:r>
              <a:t>EXPORT 3</a:t>
            </a:r>
          </a:p>
        </p:txBody>
      </p:sp>
      <p:sp>
        <p:nvSpPr>
          <p:cNvPr id="464" name="Text 18"/>
          <p:cNvSpPr txBox="1"/>
          <p:nvPr/>
        </p:nvSpPr>
        <p:spPr>
          <a:xfrm>
            <a:off x="8421623" y="3063239"/>
            <a:ext cx="242316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1700">
                <a:solidFill>
                  <a:srgbClr val="0A1F33"/>
                </a:solidFill>
              </a:defRPr>
            </a:lvl1pPr>
          </a:lstStyle>
          <a:p>
            <a:pPr/>
            <a:r>
              <a:t>Validation dataset</a:t>
            </a:r>
          </a:p>
        </p:txBody>
      </p:sp>
      <p:sp>
        <p:nvSpPr>
          <p:cNvPr id="465" name="Text 19"/>
          <p:cNvSpPr txBox="1"/>
          <p:nvPr/>
        </p:nvSpPr>
        <p:spPr>
          <a:xfrm>
            <a:off x="8421623" y="3566159"/>
            <a:ext cx="2606041" cy="115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Opt-in JSONL with frame samples, assessment scale rows, label templates, source context, and replay metadata.</a:t>
            </a:r>
          </a:p>
        </p:txBody>
      </p:sp>
      <p:sp>
        <p:nvSpPr>
          <p:cNvPr id="466" name="Shape 20"/>
          <p:cNvSpPr/>
          <p:nvPr/>
        </p:nvSpPr>
        <p:spPr>
          <a:xfrm>
            <a:off x="1097280" y="5925311"/>
            <a:ext cx="9784081" cy="365761"/>
          </a:xfrm>
          <a:prstGeom prst="roundRect">
            <a:avLst>
              <a:gd name="adj" fmla="val 15000"/>
            </a:avLst>
          </a:prstGeom>
          <a:solidFill>
            <a:srgbClr val="E6F4F4"/>
          </a:solidFill>
          <a:ln w="10160">
            <a:solidFill>
              <a:srgbClr val="1A9FA6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7" name="Shape 21"/>
          <p:cNvSpPr/>
          <p:nvPr/>
        </p:nvSpPr>
        <p:spPr>
          <a:xfrm>
            <a:off x="1097280" y="5925311"/>
            <a:ext cx="64009" cy="365761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8" name="Text 22"/>
          <p:cNvSpPr txBox="1"/>
          <p:nvPr/>
        </p:nvSpPr>
        <p:spPr>
          <a:xfrm>
            <a:off x="1261872" y="6062471"/>
            <a:ext cx="9473184" cy="128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768095">
              <a:defRPr sz="839">
                <a:solidFill>
                  <a:srgbClr val="0A1F33"/>
                </a:solidFill>
              </a:defRPr>
            </a:lvl1pPr>
          </a:lstStyle>
          <a:p>
            <a:pPr/>
            <a:r>
              <a:t>Backup import/export is separate from clinician/validation JSONL. That separation is boring and exactly why the data model is not a junk drawer.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1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2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PRIVACY</a:t>
            </a:r>
          </a:p>
        </p:txBody>
      </p:sp>
      <p:sp>
        <p:nvSpPr>
          <p:cNvPr id="473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Privacy posture: local-first, explicit-share only</a:t>
            </a:r>
          </a:p>
        </p:txBody>
      </p:sp>
      <p:sp>
        <p:nvSpPr>
          <p:cNvPr id="474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475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6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477" name="Text 7"/>
          <p:cNvSpPr txBox="1"/>
          <p:nvPr/>
        </p:nvSpPr>
        <p:spPr>
          <a:xfrm>
            <a:off x="621791" y="1572767"/>
            <a:ext cx="1005840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A face-tracking product only earns trust if the privacy model is not a footnote. Mirror's practice data stays in the browser unless the user exports it.</a:t>
            </a:r>
          </a:p>
        </p:txBody>
      </p:sp>
      <p:sp>
        <p:nvSpPr>
          <p:cNvPr id="478" name="Shape 8"/>
          <p:cNvSpPr/>
          <p:nvPr/>
        </p:nvSpPr>
        <p:spPr>
          <a:xfrm>
            <a:off x="914400" y="2423160"/>
            <a:ext cx="4846321" cy="3063240"/>
          </a:xfrm>
          <a:prstGeom prst="roundRect">
            <a:avLst>
              <a:gd name="adj" fmla="val 2388"/>
            </a:avLst>
          </a:prstGeom>
          <a:solidFill>
            <a:srgbClr val="E4F2EC"/>
          </a:solidFill>
          <a:ln w="10160">
            <a:solidFill>
              <a:srgbClr val="3B8B7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" name="Text 9"/>
          <p:cNvSpPr txBox="1"/>
          <p:nvPr/>
        </p:nvSpPr>
        <p:spPr>
          <a:xfrm>
            <a:off x="1188719" y="2697479"/>
            <a:ext cx="1280162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3B8B74"/>
                </a:solidFill>
              </a:defRPr>
            </a:lvl1pPr>
          </a:lstStyle>
          <a:p>
            <a:pPr/>
            <a:r>
              <a:t>STAYS LOCAL</a:t>
            </a:r>
          </a:p>
        </p:txBody>
      </p:sp>
      <p:sp>
        <p:nvSpPr>
          <p:cNvPr id="480" name="Text 10"/>
          <p:cNvSpPr txBox="1"/>
          <p:nvPr/>
        </p:nvSpPr>
        <p:spPr>
          <a:xfrm>
            <a:off x="1234439" y="3090672"/>
            <a:ext cx="3611881" cy="149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100">
                <a:solidFill>
                  <a:srgbClr val="4E5F6E"/>
                </a:solidFill>
              </a:defRPr>
            </a:pPr>
            <a:r>
              <a:t>Camera frames processed in browser by MediaPipe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No uploaded video or Mirror practice-data backend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Sessions, landmarks, profiles, journal, images in IndexedDB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Optional local recovery model trains from saved device data</a:t>
            </a:r>
          </a:p>
        </p:txBody>
      </p:sp>
      <p:sp>
        <p:nvSpPr>
          <p:cNvPr id="481" name="Shape 11"/>
          <p:cNvSpPr/>
          <p:nvPr/>
        </p:nvSpPr>
        <p:spPr>
          <a:xfrm>
            <a:off x="6400800" y="2423160"/>
            <a:ext cx="4846321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" name="Text 12"/>
          <p:cNvSpPr txBox="1"/>
          <p:nvPr/>
        </p:nvSpPr>
        <p:spPr>
          <a:xfrm>
            <a:off x="6675119" y="2697479"/>
            <a:ext cx="192024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LEAVES ONLY BY USER CHOICE</a:t>
            </a:r>
          </a:p>
        </p:txBody>
      </p:sp>
      <p:sp>
        <p:nvSpPr>
          <p:cNvPr id="483" name="Text 13"/>
          <p:cNvSpPr txBox="1"/>
          <p:nvPr/>
        </p:nvSpPr>
        <p:spPr>
          <a:xfrm>
            <a:off x="6720840" y="3090672"/>
            <a:ext cx="3566160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100">
                <a:solidFill>
                  <a:srgbClr val="4E5F6E"/>
                </a:solidFill>
              </a:defRPr>
            </a:pPr>
            <a:r>
              <a:t>Print/save report as PDF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Export clinician bundle JSONL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Export validation dataset JSONL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Clear site data to remove local Mirror data</a:t>
            </a:r>
          </a:p>
        </p:txBody>
      </p:sp>
      <p:sp>
        <p:nvSpPr>
          <p:cNvPr id="484" name="Shape 14"/>
          <p:cNvSpPr/>
          <p:nvPr/>
        </p:nvSpPr>
        <p:spPr>
          <a:xfrm>
            <a:off x="1325880" y="5897879"/>
            <a:ext cx="9372601" cy="384049"/>
          </a:xfrm>
          <a:prstGeom prst="roundRect">
            <a:avLst>
              <a:gd name="adj" fmla="val 14286"/>
            </a:avLst>
          </a:prstGeom>
          <a:solidFill>
            <a:srgbClr val="F4E5D1"/>
          </a:solidFill>
          <a:ln w="10160">
            <a:solidFill>
              <a:srgbClr val="C58B36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5" name="Shape 15"/>
          <p:cNvSpPr/>
          <p:nvPr/>
        </p:nvSpPr>
        <p:spPr>
          <a:xfrm>
            <a:off x="1325880" y="5897879"/>
            <a:ext cx="64009" cy="384049"/>
          </a:xfrm>
          <a:prstGeom prst="rect">
            <a:avLst/>
          </a:prstGeom>
          <a:solidFill>
            <a:srgbClr val="C58B3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6" name="Text 16"/>
          <p:cNvSpPr txBox="1"/>
          <p:nvPr/>
        </p:nvSpPr>
        <p:spPr>
          <a:xfrm>
            <a:off x="1490471" y="6035040"/>
            <a:ext cx="9061706" cy="155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0A1F33"/>
                </a:solidFill>
              </a:defRPr>
            </a:lvl1pPr>
          </a:lstStyle>
          <a:p>
            <a:pPr/>
            <a:r>
              <a:t>Hosting caveat: Render may process normal hosting metadata. Mirror's code does not use it for practice-data collection or profiling.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9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0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READINESS</a:t>
            </a:r>
          </a:p>
        </p:txBody>
      </p:sp>
      <p:sp>
        <p:nvSpPr>
          <p:cNvPr id="491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13816">
              <a:defRPr b="1" sz="2581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Validation framework: tooling ready, clinical evidence pending</a:t>
            </a:r>
          </a:p>
        </p:txBody>
      </p:sp>
      <p:sp>
        <p:nvSpPr>
          <p:cNvPr id="492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493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4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495" name="Text 7"/>
          <p:cNvSpPr txBox="1"/>
          <p:nvPr/>
        </p:nvSpPr>
        <p:spPr>
          <a:xfrm>
            <a:off x="621791" y="1572767"/>
            <a:ext cx="1005840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The repo now has a release-gated validation workflow. The honest status is stronger than hand-waving: tooling exists; reviewed clinical datasets do not.</a:t>
            </a:r>
          </a:p>
        </p:txBody>
      </p:sp>
      <p:sp>
        <p:nvSpPr>
          <p:cNvPr id="496" name="Shape 8"/>
          <p:cNvSpPr/>
          <p:nvPr/>
        </p:nvSpPr>
        <p:spPr>
          <a:xfrm>
            <a:off x="777240" y="2377439"/>
            <a:ext cx="2880361" cy="3063241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7" name="Text 9"/>
          <p:cNvSpPr txBox="1"/>
          <p:nvPr/>
        </p:nvSpPr>
        <p:spPr>
          <a:xfrm>
            <a:off x="1051560" y="2670048"/>
            <a:ext cx="137160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C58B36"/>
                </a:solidFill>
              </a:defRPr>
            </a:lvl1pPr>
          </a:lstStyle>
          <a:p>
            <a:pPr/>
            <a:r>
              <a:t>CURRENT STATUS</a:t>
            </a:r>
          </a:p>
        </p:txBody>
      </p:sp>
      <p:sp>
        <p:nvSpPr>
          <p:cNvPr id="498" name="Text 10"/>
          <p:cNvSpPr txBox="1"/>
          <p:nvPr/>
        </p:nvSpPr>
        <p:spPr>
          <a:xfrm>
            <a:off x="1097280" y="3108960"/>
            <a:ext cx="1920240" cy="5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 defTabSz="731520">
              <a:defRPr b="1" sz="1520">
                <a:solidFill>
                  <a:srgbClr val="0A1F33"/>
                </a:solidFill>
              </a:defRPr>
            </a:pPr>
            <a:r>
              <a:t>tooling-ready</a:t>
            </a:r>
          </a:p>
          <a:p>
            <a:pPr algn="ctr" defTabSz="731520">
              <a:defRPr b="1" sz="1520">
                <a:solidFill>
                  <a:srgbClr val="0A1F33"/>
                </a:solidFill>
              </a:defRPr>
            </a:pPr>
            <a:r>
              <a:t>needs-reviewed-data</a:t>
            </a:r>
          </a:p>
        </p:txBody>
      </p:sp>
      <p:sp>
        <p:nvSpPr>
          <p:cNvPr id="499" name="Text 11"/>
          <p:cNvSpPr txBox="1"/>
          <p:nvPr/>
        </p:nvSpPr>
        <p:spPr>
          <a:xfrm>
            <a:off x="1143000" y="4041647"/>
            <a:ext cx="1828800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800">
                <a:solidFill>
                  <a:srgbClr val="4E5F6E"/>
                </a:solidFill>
              </a:defRPr>
            </a:lvl1pPr>
          </a:lstStyle>
          <a:p>
            <a:pPr/>
            <a:r>
              <a:t>Reviewed datasets</a:t>
            </a:r>
          </a:p>
        </p:txBody>
      </p:sp>
      <p:sp>
        <p:nvSpPr>
          <p:cNvPr id="500" name="Shape 12"/>
          <p:cNvSpPr/>
          <p:nvPr/>
        </p:nvSpPr>
        <p:spPr>
          <a:xfrm>
            <a:off x="1143000" y="4242815"/>
            <a:ext cx="1828800" cy="54865"/>
          </a:xfrm>
          <a:prstGeom prst="rect">
            <a:avLst/>
          </a:prstGeom>
          <a:solidFill>
            <a:srgbClr val="D9D2C4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1" name="Shape 13"/>
          <p:cNvSpPr/>
          <p:nvPr/>
        </p:nvSpPr>
        <p:spPr>
          <a:xfrm>
            <a:off x="1136650" y="4242815"/>
            <a:ext cx="12700" cy="54865"/>
          </a:xfrm>
          <a:prstGeom prst="rect">
            <a:avLst/>
          </a:prstGeom>
          <a:solidFill>
            <a:srgbClr val="C58B3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2" name="Text 14"/>
          <p:cNvSpPr txBox="1"/>
          <p:nvPr/>
        </p:nvSpPr>
        <p:spPr>
          <a:xfrm>
            <a:off x="1143000" y="4617720"/>
            <a:ext cx="1828800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800">
                <a:solidFill>
                  <a:srgbClr val="4E5F6E"/>
                </a:solidFill>
              </a:defRPr>
            </a:lvl1pPr>
          </a:lstStyle>
          <a:p>
            <a:pPr/>
            <a:r>
              <a:t>Production threshold calibration</a:t>
            </a:r>
          </a:p>
        </p:txBody>
      </p:sp>
      <p:sp>
        <p:nvSpPr>
          <p:cNvPr id="503" name="Shape 15"/>
          <p:cNvSpPr/>
          <p:nvPr/>
        </p:nvSpPr>
        <p:spPr>
          <a:xfrm>
            <a:off x="1143000" y="4818888"/>
            <a:ext cx="1828800" cy="54865"/>
          </a:xfrm>
          <a:prstGeom prst="rect">
            <a:avLst/>
          </a:prstGeom>
          <a:solidFill>
            <a:srgbClr val="D9D2C4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4" name="Shape 16"/>
          <p:cNvSpPr/>
          <p:nvPr/>
        </p:nvSpPr>
        <p:spPr>
          <a:xfrm>
            <a:off x="1136650" y="4818888"/>
            <a:ext cx="12700" cy="54865"/>
          </a:xfrm>
          <a:prstGeom prst="rect">
            <a:avLst/>
          </a:prstGeom>
          <a:solidFill>
            <a:srgbClr val="C58B3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5" name="Shape 17"/>
          <p:cNvSpPr/>
          <p:nvPr/>
        </p:nvSpPr>
        <p:spPr>
          <a:xfrm>
            <a:off x="4251959" y="2377439"/>
            <a:ext cx="3520441" cy="3063241"/>
          </a:xfrm>
          <a:prstGeom prst="roundRect">
            <a:avLst>
              <a:gd name="adj" fmla="val 2388"/>
            </a:avLst>
          </a:prstGeom>
          <a:solidFill>
            <a:srgbClr val="E6F4F4"/>
          </a:solidFill>
          <a:ln w="10160">
            <a:solidFill>
              <a:srgbClr val="BFE4E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" name="Text 18"/>
          <p:cNvSpPr txBox="1"/>
          <p:nvPr/>
        </p:nvSpPr>
        <p:spPr>
          <a:xfrm>
            <a:off x="4526279" y="2670048"/>
            <a:ext cx="182880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IMPLEMENTED WORKFLOW</a:t>
            </a:r>
          </a:p>
        </p:txBody>
      </p:sp>
      <p:sp>
        <p:nvSpPr>
          <p:cNvPr id="507" name="Text 19"/>
          <p:cNvSpPr txBox="1"/>
          <p:nvPr/>
        </p:nvSpPr>
        <p:spPr>
          <a:xfrm>
            <a:off x="4572000" y="3063239"/>
            <a:ext cx="2606040" cy="1508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100">
                <a:solidFill>
                  <a:srgbClr val="4E5F6E"/>
                </a:solidFill>
              </a:defRPr>
            </a:pPr>
            <a:r>
              <a:t>Validation JSONL export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Blinded clinical review package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Label merge + reviewer agreement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Replay evaluation + threshold calibration</a:t>
            </a:r>
          </a:p>
          <a:p>
            <a:pPr>
              <a:defRPr sz="1100">
                <a:solidFill>
                  <a:srgbClr val="4E5F6E"/>
                </a:solidFill>
              </a:defRPr>
            </a:pPr>
            <a:r>
              <a:t>Clinical-readiness + release status checks</a:t>
            </a:r>
          </a:p>
        </p:txBody>
      </p:sp>
      <p:sp>
        <p:nvSpPr>
          <p:cNvPr id="508" name="Shape 20"/>
          <p:cNvSpPr/>
          <p:nvPr/>
        </p:nvSpPr>
        <p:spPr>
          <a:xfrm>
            <a:off x="8321040" y="2377439"/>
            <a:ext cx="2880361" cy="3063241"/>
          </a:xfrm>
          <a:prstGeom prst="roundRect">
            <a:avLst>
              <a:gd name="adj" fmla="val 2540"/>
            </a:avLst>
          </a:prstGeom>
          <a:solidFill>
            <a:srgbClr val="F3E2E2"/>
          </a:solidFill>
          <a:ln w="10160">
            <a:solidFill>
              <a:srgbClr val="B65C5C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9" name="Text 21"/>
          <p:cNvSpPr txBox="1"/>
          <p:nvPr/>
        </p:nvSpPr>
        <p:spPr>
          <a:xfrm>
            <a:off x="8595359" y="2670048"/>
            <a:ext cx="164592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B65C5C"/>
                </a:solidFill>
              </a:defRPr>
            </a:lvl1pPr>
          </a:lstStyle>
          <a:p>
            <a:pPr/>
            <a:r>
              <a:t>FUTURE RELEASE GATES</a:t>
            </a:r>
          </a:p>
        </p:txBody>
      </p:sp>
      <p:sp>
        <p:nvSpPr>
          <p:cNvPr id="510" name="Text 22"/>
          <p:cNvSpPr txBox="1"/>
          <p:nvPr/>
        </p:nvSpPr>
        <p:spPr>
          <a:xfrm>
            <a:off x="8641080" y="3063239"/>
            <a:ext cx="2057401" cy="1417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000">
                <a:solidFill>
                  <a:srgbClr val="4E5F6E"/>
                </a:solidFill>
              </a:defRPr>
            </a:pPr>
            <a:r>
              <a:t>30 reviewed assessments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10 distinct validation cases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80% observed + Wilson lower bound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HB case-mix floors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Source SHA-256 traceability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3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4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BUILD</a:t>
            </a:r>
          </a:p>
        </p:txBody>
      </p:sp>
      <p:sp>
        <p:nvSpPr>
          <p:cNvPr id="515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Technology stack: modern, local, lightweight</a:t>
            </a:r>
          </a:p>
        </p:txBody>
      </p:sp>
      <p:sp>
        <p:nvSpPr>
          <p:cNvPr id="516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517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8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519" name="Text 7"/>
          <p:cNvSpPr txBox="1"/>
          <p:nvPr/>
        </p:nvSpPr>
        <p:spPr>
          <a:xfrm>
            <a:off x="621791" y="1572767"/>
            <a:ext cx="98755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The stack is intentionally client-heavy: fast to ship, easy to host, and aligned with the privacy promise.</a:t>
            </a:r>
          </a:p>
        </p:txBody>
      </p:sp>
      <p:sp>
        <p:nvSpPr>
          <p:cNvPr id="520" name="Shape 8"/>
          <p:cNvSpPr/>
          <p:nvPr/>
        </p:nvSpPr>
        <p:spPr>
          <a:xfrm>
            <a:off x="1051560" y="2743200"/>
            <a:ext cx="1417321" cy="1417320"/>
          </a:xfrm>
          <a:prstGeom prst="ellipse">
            <a:avLst/>
          </a:prstGeom>
          <a:solidFill>
            <a:srgbClr val="E6F4F4"/>
          </a:solidFill>
          <a:ln w="15240">
            <a:solidFill>
              <a:srgbClr val="1A9F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1" name="Text 9"/>
          <p:cNvSpPr txBox="1"/>
          <p:nvPr/>
        </p:nvSpPr>
        <p:spPr>
          <a:xfrm>
            <a:off x="1179575" y="3182111"/>
            <a:ext cx="1143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886968">
              <a:defRPr b="1" sz="1358">
                <a:solidFill>
                  <a:srgbClr val="0A1F33"/>
                </a:solidFill>
              </a:defRPr>
            </a:lvl1pPr>
          </a:lstStyle>
          <a:p>
            <a:pPr/>
            <a:r>
              <a:t>React 19</a:t>
            </a:r>
          </a:p>
        </p:txBody>
      </p:sp>
      <p:sp>
        <p:nvSpPr>
          <p:cNvPr id="522" name="Text 10"/>
          <p:cNvSpPr txBox="1"/>
          <p:nvPr/>
        </p:nvSpPr>
        <p:spPr>
          <a:xfrm>
            <a:off x="1161288" y="4343400"/>
            <a:ext cx="1188721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UI + practice flow</a:t>
            </a:r>
          </a:p>
        </p:txBody>
      </p:sp>
      <p:sp>
        <p:nvSpPr>
          <p:cNvPr id="523" name="Shape 11"/>
          <p:cNvSpPr/>
          <p:nvPr/>
        </p:nvSpPr>
        <p:spPr>
          <a:xfrm>
            <a:off x="2999232" y="2743200"/>
            <a:ext cx="1417321" cy="1417320"/>
          </a:xfrm>
          <a:prstGeom prst="ellipse">
            <a:avLst/>
          </a:prstGeom>
          <a:solidFill>
            <a:srgbClr val="F4E5D1"/>
          </a:solidFill>
          <a:ln w="15240">
            <a:solidFill>
              <a:srgbClr val="C58B3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4" name="Text 12"/>
          <p:cNvSpPr txBox="1"/>
          <p:nvPr/>
        </p:nvSpPr>
        <p:spPr>
          <a:xfrm>
            <a:off x="3127248" y="3182111"/>
            <a:ext cx="1143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886968">
              <a:defRPr b="1" sz="1358">
                <a:solidFill>
                  <a:srgbClr val="0A1F33"/>
                </a:solidFill>
              </a:defRPr>
            </a:lvl1pPr>
          </a:lstStyle>
          <a:p>
            <a:pPr/>
            <a:r>
              <a:t>Vite 8</a:t>
            </a:r>
          </a:p>
        </p:txBody>
      </p:sp>
      <p:sp>
        <p:nvSpPr>
          <p:cNvPr id="525" name="Text 13"/>
          <p:cNvSpPr txBox="1"/>
          <p:nvPr/>
        </p:nvSpPr>
        <p:spPr>
          <a:xfrm>
            <a:off x="3108960" y="4343400"/>
            <a:ext cx="1188721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build runtime</a:t>
            </a:r>
          </a:p>
        </p:txBody>
      </p:sp>
      <p:sp>
        <p:nvSpPr>
          <p:cNvPr id="526" name="Shape 14"/>
          <p:cNvSpPr/>
          <p:nvPr/>
        </p:nvSpPr>
        <p:spPr>
          <a:xfrm>
            <a:off x="4946903" y="2743200"/>
            <a:ext cx="1417321" cy="1417320"/>
          </a:xfrm>
          <a:prstGeom prst="ellipse">
            <a:avLst/>
          </a:prstGeom>
          <a:solidFill>
            <a:srgbClr val="E4F2EC"/>
          </a:solidFill>
          <a:ln w="15240">
            <a:solidFill>
              <a:srgbClr val="3B8B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7" name="Text 15"/>
          <p:cNvSpPr txBox="1"/>
          <p:nvPr/>
        </p:nvSpPr>
        <p:spPr>
          <a:xfrm>
            <a:off x="5074920" y="3182111"/>
            <a:ext cx="1143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886968">
              <a:defRPr b="1" sz="1358">
                <a:solidFill>
                  <a:srgbClr val="0A1F33"/>
                </a:solidFill>
              </a:defRPr>
            </a:lvl1pPr>
          </a:lstStyle>
          <a:p>
            <a:pPr/>
            <a:r>
              <a:t>Tailwind 4</a:t>
            </a:r>
          </a:p>
        </p:txBody>
      </p:sp>
      <p:sp>
        <p:nvSpPr>
          <p:cNvPr id="528" name="Text 16"/>
          <p:cNvSpPr txBox="1"/>
          <p:nvPr/>
        </p:nvSpPr>
        <p:spPr>
          <a:xfrm>
            <a:off x="5056632" y="4343400"/>
            <a:ext cx="1188721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interface system</a:t>
            </a:r>
          </a:p>
        </p:txBody>
      </p:sp>
      <p:sp>
        <p:nvSpPr>
          <p:cNvPr id="529" name="Shape 17"/>
          <p:cNvSpPr/>
          <p:nvPr/>
        </p:nvSpPr>
        <p:spPr>
          <a:xfrm>
            <a:off x="6894576" y="2743200"/>
            <a:ext cx="1417321" cy="1417320"/>
          </a:xfrm>
          <a:prstGeom prst="ellipse">
            <a:avLst/>
          </a:prstGeom>
          <a:solidFill>
            <a:srgbClr val="ECE9F9"/>
          </a:solidFill>
          <a:ln w="15240">
            <a:solidFill>
              <a:srgbClr val="6657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0" name="Text 18"/>
          <p:cNvSpPr txBox="1"/>
          <p:nvPr/>
        </p:nvSpPr>
        <p:spPr>
          <a:xfrm>
            <a:off x="7022592" y="3182111"/>
            <a:ext cx="1143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886968">
              <a:defRPr b="1" sz="1358">
                <a:solidFill>
                  <a:srgbClr val="0A1F33"/>
                </a:solidFill>
              </a:defRPr>
            </a:lvl1pPr>
          </a:lstStyle>
          <a:p>
            <a:pPr/>
            <a:r>
              <a:t>MediaPipe</a:t>
            </a:r>
          </a:p>
        </p:txBody>
      </p:sp>
      <p:sp>
        <p:nvSpPr>
          <p:cNvPr id="531" name="Text 19"/>
          <p:cNvSpPr txBox="1"/>
          <p:nvPr/>
        </p:nvSpPr>
        <p:spPr>
          <a:xfrm>
            <a:off x="7004304" y="4343400"/>
            <a:ext cx="1188721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vision model</a:t>
            </a:r>
          </a:p>
        </p:txBody>
      </p:sp>
      <p:sp>
        <p:nvSpPr>
          <p:cNvPr id="532" name="Shape 20"/>
          <p:cNvSpPr/>
          <p:nvPr/>
        </p:nvSpPr>
        <p:spPr>
          <a:xfrm>
            <a:off x="8842247" y="2743200"/>
            <a:ext cx="1417321" cy="1417320"/>
          </a:xfrm>
          <a:prstGeom prst="ellipse">
            <a:avLst/>
          </a:prstGeom>
          <a:solidFill>
            <a:srgbClr val="E8F0F7"/>
          </a:solidFill>
          <a:ln w="15240">
            <a:solidFill>
              <a:srgbClr val="1230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3" name="Text 21"/>
          <p:cNvSpPr txBox="1"/>
          <p:nvPr/>
        </p:nvSpPr>
        <p:spPr>
          <a:xfrm>
            <a:off x="8970264" y="3182111"/>
            <a:ext cx="1143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886968">
              <a:defRPr b="1" sz="1358">
                <a:solidFill>
                  <a:srgbClr val="0A1F33"/>
                </a:solidFill>
              </a:defRPr>
            </a:lvl1pPr>
          </a:lstStyle>
          <a:p>
            <a:pPr/>
            <a:r>
              <a:t>IndexedDB</a:t>
            </a:r>
          </a:p>
        </p:txBody>
      </p:sp>
      <p:sp>
        <p:nvSpPr>
          <p:cNvPr id="534" name="Text 22"/>
          <p:cNvSpPr txBox="1"/>
          <p:nvPr/>
        </p:nvSpPr>
        <p:spPr>
          <a:xfrm>
            <a:off x="8951976" y="4343400"/>
            <a:ext cx="1188721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800">
                <a:solidFill>
                  <a:srgbClr val="71808E"/>
                </a:solidFill>
              </a:defRPr>
            </a:lvl1pPr>
          </a:lstStyle>
          <a:p>
            <a:pPr/>
            <a:r>
              <a:t>local persistence</a:t>
            </a:r>
          </a:p>
        </p:txBody>
      </p:sp>
      <p:sp>
        <p:nvSpPr>
          <p:cNvPr id="535" name="Shape 23"/>
          <p:cNvSpPr/>
          <p:nvPr/>
        </p:nvSpPr>
        <p:spPr>
          <a:xfrm>
            <a:off x="1325880" y="5212079"/>
            <a:ext cx="9509760" cy="685801"/>
          </a:xfrm>
          <a:prstGeom prst="roundRect">
            <a:avLst>
              <a:gd name="adj" fmla="val 10667"/>
            </a:avLst>
          </a:prstGeom>
          <a:solidFill>
            <a:srgbClr val="FBFAF7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6" name="Text 24"/>
          <p:cNvSpPr txBox="1"/>
          <p:nvPr/>
        </p:nvSpPr>
        <p:spPr>
          <a:xfrm>
            <a:off x="1600200" y="5440679"/>
            <a:ext cx="8961120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813816">
              <a:defRPr sz="889">
                <a:solidFill>
                  <a:srgbClr val="4E5F6E"/>
                </a:solidFill>
              </a:defRPr>
            </a:lvl1pPr>
          </a:lstStyle>
          <a:p>
            <a:pPr/>
            <a:r>
              <a:t>Also: Recharts for progress charts · Lucide icons · WebAssembly / WebGL · worker-backed detector with fallback · OpenAI Codex, Claude Opus, and Pieces in the build workflow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9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0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WHAT NEXT</a:t>
            </a:r>
          </a:p>
        </p:txBody>
      </p:sp>
      <p:sp>
        <p:nvSpPr>
          <p:cNvPr id="541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Roadmap: where the next credibility comes from</a:t>
            </a:r>
          </a:p>
        </p:txBody>
      </p:sp>
      <p:sp>
        <p:nvSpPr>
          <p:cNvPr id="542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543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4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545" name="Text 7"/>
          <p:cNvSpPr txBox="1"/>
          <p:nvPr/>
        </p:nvSpPr>
        <p:spPr>
          <a:xfrm>
            <a:off x="621791" y="1572767"/>
            <a:ext cx="1005840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Most core algorithm upgrades are implemented. The next value is not more sparkle; it is validation, threshold calibration, and cleaner review workflows.</a:t>
            </a:r>
          </a:p>
        </p:txBody>
      </p:sp>
      <p:sp>
        <p:nvSpPr>
          <p:cNvPr id="546" name="Shape 8"/>
          <p:cNvSpPr/>
          <p:nvPr/>
        </p:nvSpPr>
        <p:spPr>
          <a:xfrm>
            <a:off x="777240" y="2468879"/>
            <a:ext cx="3154680" cy="3154681"/>
          </a:xfrm>
          <a:prstGeom prst="roundRect">
            <a:avLst>
              <a:gd name="adj" fmla="val 2319"/>
            </a:avLst>
          </a:prstGeom>
          <a:solidFill>
            <a:srgbClr val="E4F2EC"/>
          </a:solidFill>
          <a:ln w="10160">
            <a:solidFill>
              <a:srgbClr val="3B8B74">
                <a:alpha val="55000"/>
              </a:srgbClr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7" name="Text 9"/>
          <p:cNvSpPr txBox="1"/>
          <p:nvPr/>
        </p:nvSpPr>
        <p:spPr>
          <a:xfrm>
            <a:off x="1005839" y="2761488"/>
            <a:ext cx="1005840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3B8B74"/>
                </a:solidFill>
              </a:defRPr>
            </a:lvl1pPr>
          </a:lstStyle>
          <a:p>
            <a:pPr/>
            <a:r>
              <a:t>TRACK 1</a:t>
            </a:r>
          </a:p>
        </p:txBody>
      </p:sp>
      <p:sp>
        <p:nvSpPr>
          <p:cNvPr id="548" name="Text 10"/>
          <p:cNvSpPr txBox="1"/>
          <p:nvPr/>
        </p:nvSpPr>
        <p:spPr>
          <a:xfrm>
            <a:off x="1005839" y="3054095"/>
            <a:ext cx="242316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50391">
              <a:defRPr b="1" sz="1488">
                <a:solidFill>
                  <a:srgbClr val="0A1F33"/>
                </a:solidFill>
              </a:defRPr>
            </a:lvl1pPr>
          </a:lstStyle>
          <a:p>
            <a:pPr/>
            <a:r>
              <a:t>Now implemented</a:t>
            </a:r>
          </a:p>
        </p:txBody>
      </p:sp>
      <p:sp>
        <p:nvSpPr>
          <p:cNvPr id="549" name="Text 11"/>
          <p:cNvSpPr txBox="1"/>
          <p:nvPr/>
        </p:nvSpPr>
        <p:spPr>
          <a:xfrm>
            <a:off x="1097280" y="3502152"/>
            <a:ext cx="2331721" cy="1417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000">
                <a:solidFill>
                  <a:srgbClr val="4E5F6E"/>
                </a:solidFill>
              </a:defRPr>
            </a:pPr>
            <a:r>
              <a:t>Worker-backed inference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Directional scorers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Setup quality + diagnostics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Assessment mode + exports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Validation label workflow</a:t>
            </a:r>
          </a:p>
        </p:txBody>
      </p:sp>
      <p:sp>
        <p:nvSpPr>
          <p:cNvPr id="550" name="Shape 12"/>
          <p:cNvSpPr/>
          <p:nvPr/>
        </p:nvSpPr>
        <p:spPr>
          <a:xfrm>
            <a:off x="4480559" y="2468879"/>
            <a:ext cx="3154681" cy="3154681"/>
          </a:xfrm>
          <a:prstGeom prst="roundRect">
            <a:avLst>
              <a:gd name="adj" fmla="val 2319"/>
            </a:avLst>
          </a:prstGeom>
          <a:solidFill>
            <a:srgbClr val="F4E5D1"/>
          </a:solidFill>
          <a:ln w="10160">
            <a:solidFill>
              <a:srgbClr val="C58B36">
                <a:alpha val="55000"/>
              </a:srgbClr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1" name="Text 13"/>
          <p:cNvSpPr txBox="1"/>
          <p:nvPr/>
        </p:nvSpPr>
        <p:spPr>
          <a:xfrm>
            <a:off x="4709159" y="2761488"/>
            <a:ext cx="1005840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C58B36"/>
                </a:solidFill>
              </a:defRPr>
            </a:lvl1pPr>
          </a:lstStyle>
          <a:p>
            <a:pPr/>
            <a:r>
              <a:t>TRACK 2</a:t>
            </a:r>
          </a:p>
        </p:txBody>
      </p:sp>
      <p:sp>
        <p:nvSpPr>
          <p:cNvPr id="552" name="Text 14"/>
          <p:cNvSpPr txBox="1"/>
          <p:nvPr/>
        </p:nvSpPr>
        <p:spPr>
          <a:xfrm>
            <a:off x="4709159" y="3054095"/>
            <a:ext cx="242316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50391">
              <a:defRPr b="1" sz="1488">
                <a:solidFill>
                  <a:srgbClr val="0A1F33"/>
                </a:solidFill>
              </a:defRPr>
            </a:lvl1pPr>
          </a:lstStyle>
          <a:p>
            <a:pPr/>
            <a:r>
              <a:t>Pending evidence</a:t>
            </a:r>
          </a:p>
        </p:txBody>
      </p:sp>
      <p:sp>
        <p:nvSpPr>
          <p:cNvPr id="553" name="Text 15"/>
          <p:cNvSpPr txBox="1"/>
          <p:nvPr/>
        </p:nvSpPr>
        <p:spPr>
          <a:xfrm>
            <a:off x="4800600" y="3502152"/>
            <a:ext cx="2331721" cy="1417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000">
                <a:solidFill>
                  <a:srgbClr val="4E5F6E"/>
                </a:solidFill>
              </a:defRPr>
            </a:pPr>
            <a:r>
              <a:t>Clinician-reviewed datasets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Production threshold calibration from reviewed reports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Clinical-scale agreement proof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Reviewer-agreement proof</a:t>
            </a:r>
          </a:p>
        </p:txBody>
      </p:sp>
      <p:sp>
        <p:nvSpPr>
          <p:cNvPr id="554" name="Shape 16"/>
          <p:cNvSpPr/>
          <p:nvPr/>
        </p:nvSpPr>
        <p:spPr>
          <a:xfrm>
            <a:off x="8183880" y="2468879"/>
            <a:ext cx="3154681" cy="3154681"/>
          </a:xfrm>
          <a:prstGeom prst="roundRect">
            <a:avLst>
              <a:gd name="adj" fmla="val 2319"/>
            </a:avLst>
          </a:prstGeom>
          <a:solidFill>
            <a:srgbClr val="E6F4F4"/>
          </a:solidFill>
          <a:ln w="10160">
            <a:solidFill>
              <a:srgbClr val="1A9FA6">
                <a:alpha val="55000"/>
              </a:srgbClr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5" name="Text 17"/>
          <p:cNvSpPr txBox="1"/>
          <p:nvPr/>
        </p:nvSpPr>
        <p:spPr>
          <a:xfrm>
            <a:off x="8412480" y="2761488"/>
            <a:ext cx="1005840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TRACK 3</a:t>
            </a:r>
          </a:p>
        </p:txBody>
      </p:sp>
      <p:sp>
        <p:nvSpPr>
          <p:cNvPr id="556" name="Text 18"/>
          <p:cNvSpPr txBox="1"/>
          <p:nvPr/>
        </p:nvSpPr>
        <p:spPr>
          <a:xfrm>
            <a:off x="8412480" y="3054095"/>
            <a:ext cx="242316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50391">
              <a:defRPr b="1" sz="1488">
                <a:solidFill>
                  <a:srgbClr val="0A1F33"/>
                </a:solidFill>
              </a:defRPr>
            </a:lvl1pPr>
          </a:lstStyle>
          <a:p>
            <a:pPr/>
            <a:r>
              <a:t>Product polish</a:t>
            </a:r>
          </a:p>
        </p:txBody>
      </p:sp>
      <p:sp>
        <p:nvSpPr>
          <p:cNvPr id="557" name="Text 19"/>
          <p:cNvSpPr txBox="1"/>
          <p:nvPr/>
        </p:nvSpPr>
        <p:spPr>
          <a:xfrm>
            <a:off x="8503919" y="3502152"/>
            <a:ext cx="2331721" cy="1417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000">
                <a:solidFill>
                  <a:srgbClr val="4E5F6E"/>
                </a:solidFill>
              </a:defRPr>
            </a:pPr>
            <a:r>
              <a:t>Portable progress import/export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Clearer calibration coaching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Better clinician handoff summaries</a:t>
            </a:r>
          </a:p>
          <a:p>
            <a:pPr>
              <a:defRPr sz="1000">
                <a:solidFill>
                  <a:srgbClr val="4E5F6E"/>
                </a:solidFill>
              </a:defRPr>
            </a:pPr>
            <a:r>
              <a:t>More replayable audit trails</a:t>
            </a:r>
          </a:p>
        </p:txBody>
      </p:sp>
      <p:sp>
        <p:nvSpPr>
          <p:cNvPr id="558" name="Shape 20"/>
          <p:cNvSpPr/>
          <p:nvPr/>
        </p:nvSpPr>
        <p:spPr>
          <a:xfrm>
            <a:off x="1417319" y="5971032"/>
            <a:ext cx="9052561" cy="347473"/>
          </a:xfrm>
          <a:prstGeom prst="roundRect">
            <a:avLst>
              <a:gd name="adj" fmla="val 15789"/>
            </a:avLst>
          </a:prstGeom>
          <a:solidFill>
            <a:srgbClr val="FBFAF7"/>
          </a:solidFill>
          <a:ln w="10160">
            <a:solidFill>
              <a:srgbClr val="123047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9" name="Shape 21"/>
          <p:cNvSpPr/>
          <p:nvPr/>
        </p:nvSpPr>
        <p:spPr>
          <a:xfrm>
            <a:off x="1417319" y="5971032"/>
            <a:ext cx="64009" cy="347473"/>
          </a:xfrm>
          <a:prstGeom prst="rect">
            <a:avLst/>
          </a:prstGeom>
          <a:solidFill>
            <a:srgbClr val="123047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0" name="Text 22"/>
          <p:cNvSpPr txBox="1"/>
          <p:nvPr/>
        </p:nvSpPr>
        <p:spPr>
          <a:xfrm>
            <a:off x="1572767" y="6053328"/>
            <a:ext cx="8741665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484631">
              <a:defRPr sz="1219">
                <a:solidFill>
                  <a:srgbClr val="0A1F33"/>
                </a:solidFill>
              </a:defRPr>
            </a:lvl1pPr>
          </a:lstStyle>
          <a:p>
            <a:pPr/>
            <a:r>
              <a:t>Design principle: do not make the app look clinically “official” until the evidence is actually official. Restraint is the feature.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3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4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TRACTION</a:t>
            </a:r>
          </a:p>
        </p:txBody>
      </p:sp>
      <p:sp>
        <p:nvSpPr>
          <p:cNvPr id="565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Distribution: the story already has pull</a:t>
            </a:r>
          </a:p>
        </p:txBody>
      </p:sp>
      <p:sp>
        <p:nvSpPr>
          <p:cNvPr id="566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567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8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569" name="Text 7"/>
          <p:cNvSpPr txBox="1"/>
          <p:nvPr/>
        </p:nvSpPr>
        <p:spPr>
          <a:xfrm>
            <a:off x="621791" y="1572767"/>
            <a:ext cx="98755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68680">
              <a:defRPr sz="1520">
                <a:solidFill>
                  <a:srgbClr val="4E5F6E"/>
                </a:solidFill>
              </a:defRPr>
            </a:lvl1pPr>
          </a:lstStyle>
          <a:p>
            <a:pPr/>
            <a:r>
              <a:t>The origin story landed because it is specific: one person, a sudden diagnosis, and a working tool built out of real need.</a:t>
            </a:r>
          </a:p>
        </p:txBody>
      </p:sp>
      <p:sp>
        <p:nvSpPr>
          <p:cNvPr id="570" name="Text 8"/>
          <p:cNvSpPr txBox="1"/>
          <p:nvPr/>
        </p:nvSpPr>
        <p:spPr>
          <a:xfrm>
            <a:off x="914400" y="2606039"/>
            <a:ext cx="2011679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700">
                <a:solidFill>
                  <a:srgbClr val="1A9FA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9+</a:t>
            </a:r>
          </a:p>
        </p:txBody>
      </p:sp>
      <p:sp>
        <p:nvSpPr>
          <p:cNvPr id="571" name="Text 9"/>
          <p:cNvSpPr txBox="1"/>
          <p:nvPr/>
        </p:nvSpPr>
        <p:spPr>
          <a:xfrm>
            <a:off x="914400" y="3044951"/>
            <a:ext cx="2011679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publications picked up the story</a:t>
            </a:r>
          </a:p>
        </p:txBody>
      </p:sp>
      <p:sp>
        <p:nvSpPr>
          <p:cNvPr id="572" name="Text 10"/>
          <p:cNvSpPr txBox="1"/>
          <p:nvPr/>
        </p:nvSpPr>
        <p:spPr>
          <a:xfrm>
            <a:off x="3749040" y="2606039"/>
            <a:ext cx="2103121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700">
                <a:solidFill>
                  <a:srgbClr val="C58B3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May 2026</a:t>
            </a:r>
          </a:p>
        </p:txBody>
      </p:sp>
      <p:sp>
        <p:nvSpPr>
          <p:cNvPr id="573" name="Text 11"/>
          <p:cNvSpPr txBox="1"/>
          <p:nvPr/>
        </p:nvSpPr>
        <p:spPr>
          <a:xfrm>
            <a:off x="3749040" y="3044951"/>
            <a:ext cx="210312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media attention window</a:t>
            </a:r>
          </a:p>
        </p:txBody>
      </p:sp>
      <p:sp>
        <p:nvSpPr>
          <p:cNvPr id="574" name="Text 12"/>
          <p:cNvSpPr txBox="1"/>
          <p:nvPr/>
        </p:nvSpPr>
        <p:spPr>
          <a:xfrm>
            <a:off x="6720840" y="2606039"/>
            <a:ext cx="2743201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700">
                <a:solidFill>
                  <a:srgbClr val="3B8B74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local-first</a:t>
            </a:r>
          </a:p>
        </p:txBody>
      </p:sp>
      <p:sp>
        <p:nvSpPr>
          <p:cNvPr id="575" name="Text 13"/>
          <p:cNvSpPr txBox="1"/>
          <p:nvPr/>
        </p:nvSpPr>
        <p:spPr>
          <a:xfrm>
            <a:off x="6720840" y="3044951"/>
            <a:ext cx="274320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privacy narrative, not just tech demo</a:t>
            </a:r>
          </a:p>
        </p:txBody>
      </p:sp>
      <p:sp>
        <p:nvSpPr>
          <p:cNvPr id="576" name="Shape 14"/>
          <p:cNvSpPr/>
          <p:nvPr/>
        </p:nvSpPr>
        <p:spPr>
          <a:xfrm>
            <a:off x="914400" y="4041647"/>
            <a:ext cx="10012681" cy="1325881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" name="Text 15"/>
          <p:cNvSpPr txBox="1"/>
          <p:nvPr/>
        </p:nvSpPr>
        <p:spPr>
          <a:xfrm>
            <a:off x="1234439" y="4416552"/>
            <a:ext cx="9235442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594359">
              <a:defRPr b="1" sz="1104">
                <a:solidFill>
                  <a:srgbClr val="0A1F33"/>
                </a:solidFill>
              </a:defRPr>
            </a:lvl1pPr>
          </a:lstStyle>
          <a:p>
            <a:pPr/>
            <a:r>
              <a:t>Featured across Hindustan Times, Times of India, Mint, Free Press Journal, NewsBytes, What's Hot, MSN, LiveMint, Dailyhunt and others.</a:t>
            </a:r>
          </a:p>
        </p:txBody>
      </p:sp>
      <p:sp>
        <p:nvSpPr>
          <p:cNvPr id="578" name="Text 16"/>
          <p:cNvSpPr txBox="1"/>
          <p:nvPr/>
        </p:nvSpPr>
        <p:spPr>
          <a:xfrm>
            <a:off x="2240279" y="4919471"/>
            <a:ext cx="7223761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1000">
                <a:solidFill>
                  <a:srgbClr val="71808E"/>
                </a:solidFill>
              </a:defRPr>
            </a:lvl1pPr>
          </a:lstStyle>
          <a:p>
            <a:pPr/>
            <a:r>
              <a:t>Executive framing: press proves resonance, not clinical validity. Keep those lanes clean.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1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2" name="Text 2"/>
          <p:cNvSpPr txBox="1"/>
          <p:nvPr/>
        </p:nvSpPr>
        <p:spPr>
          <a:xfrm>
            <a:off x="594359" y="347472"/>
            <a:ext cx="438912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800">
                <a:solidFill>
                  <a:srgbClr val="1A9FA6"/>
                </a:solidFill>
              </a:defRPr>
            </a:lvl1pPr>
          </a:lstStyle>
          <a:p>
            <a:pPr/>
            <a:r>
              <a:t>CTA</a:t>
            </a:r>
          </a:p>
        </p:txBody>
      </p:sp>
      <p:sp>
        <p:nvSpPr>
          <p:cNvPr id="583" name="Text 3"/>
          <p:cNvSpPr txBox="1"/>
          <p:nvPr/>
        </p:nvSpPr>
        <p:spPr>
          <a:xfrm>
            <a:off x="594359" y="640080"/>
            <a:ext cx="978408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29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Try it yourself</a:t>
            </a:r>
          </a:p>
        </p:txBody>
      </p:sp>
      <p:sp>
        <p:nvSpPr>
          <p:cNvPr id="584" name="Text 4"/>
          <p:cNvSpPr txBox="1"/>
          <p:nvPr/>
        </p:nvSpPr>
        <p:spPr>
          <a:xfrm>
            <a:off x="11201400" y="420623"/>
            <a:ext cx="41148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700">
                <a:solidFill>
                  <a:srgbClr val="71808E"/>
                </a:solidFill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585" name="Shape 5"/>
          <p:cNvSpPr/>
          <p:nvPr/>
        </p:nvSpPr>
        <p:spPr>
          <a:xfrm>
            <a:off x="594359" y="1353311"/>
            <a:ext cx="10972801" cy="1"/>
          </a:xfrm>
          <a:prstGeom prst="line">
            <a:avLst/>
          </a:prstGeom>
          <a:ln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6" name="Text 6"/>
          <p:cNvSpPr txBox="1"/>
          <p:nvPr/>
        </p:nvSpPr>
        <p:spPr>
          <a:xfrm>
            <a:off x="594360" y="6473952"/>
            <a:ext cx="566928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Mirror for Bell's Palsy · mirror.iali.in</a:t>
            </a:r>
          </a:p>
        </p:txBody>
      </p:sp>
      <p:sp>
        <p:nvSpPr>
          <p:cNvPr id="587" name="Text 7"/>
          <p:cNvSpPr txBox="1"/>
          <p:nvPr/>
        </p:nvSpPr>
        <p:spPr>
          <a:xfrm>
            <a:off x="621791" y="1572767"/>
            <a:ext cx="98755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600">
                <a:solidFill>
                  <a:srgbClr val="4E5F6E"/>
                </a:solidFill>
              </a:defRPr>
            </a:lvl1pPr>
          </a:lstStyle>
          <a:p>
            <a:pPr/>
            <a:r>
              <a:t>The executive story is simple: see the tracker immediately, then understand the full practice loop.</a:t>
            </a:r>
          </a:p>
        </p:txBody>
      </p:sp>
      <p:sp>
        <p:nvSpPr>
          <p:cNvPr id="588" name="Shape 8"/>
          <p:cNvSpPr/>
          <p:nvPr/>
        </p:nvSpPr>
        <p:spPr>
          <a:xfrm>
            <a:off x="1024127" y="2578607"/>
            <a:ext cx="4572001" cy="2331721"/>
          </a:xfrm>
          <a:prstGeom prst="roundRect">
            <a:avLst>
              <a:gd name="adj" fmla="val 3137"/>
            </a:avLst>
          </a:prstGeom>
          <a:solidFill>
            <a:srgbClr val="E6F4F4"/>
          </a:solidFill>
          <a:ln w="10160">
            <a:solidFill>
              <a:srgbClr val="BFE4E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" name="Text 9"/>
          <p:cNvSpPr txBox="1"/>
          <p:nvPr/>
        </p:nvSpPr>
        <p:spPr>
          <a:xfrm>
            <a:off x="1353311" y="2907792"/>
            <a:ext cx="155448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SEE THE TRACKER</a:t>
            </a:r>
          </a:p>
        </p:txBody>
      </p:sp>
      <p:sp>
        <p:nvSpPr>
          <p:cNvPr id="590" name="Text 10"/>
          <p:cNvSpPr txBox="1"/>
          <p:nvPr/>
        </p:nvSpPr>
        <p:spPr>
          <a:xfrm>
            <a:off x="1353311" y="3474720"/>
            <a:ext cx="3474722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822959">
              <a:defRPr b="1" sz="2250">
                <a:solidFill>
                  <a:schemeClr val="accent2">
                    <a:satOff val="-18194"/>
                    <a:lumOff val="-11215"/>
                  </a:schemeClr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uFillTx/>
              </a:defRPr>
            </a:pPr>
            <a:r>
              <a:rPr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mirror.iali.in/try</a:t>
            </a:r>
          </a:p>
        </p:txBody>
      </p:sp>
      <p:sp>
        <p:nvSpPr>
          <p:cNvPr id="591" name="Text 11"/>
          <p:cNvSpPr txBox="1"/>
          <p:nvPr/>
        </p:nvSpPr>
        <p:spPr>
          <a:xfrm>
            <a:off x="1417319" y="4160520"/>
            <a:ext cx="3246122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Standalone face mesh, activation bars, expression detector, head-position readout.</a:t>
            </a:r>
          </a:p>
        </p:txBody>
      </p:sp>
      <p:sp>
        <p:nvSpPr>
          <p:cNvPr id="592" name="Shape 12"/>
          <p:cNvSpPr/>
          <p:nvPr/>
        </p:nvSpPr>
        <p:spPr>
          <a:xfrm>
            <a:off x="6601968" y="2578607"/>
            <a:ext cx="4572001" cy="2331721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" name="Text 13"/>
          <p:cNvSpPr txBox="1"/>
          <p:nvPr/>
        </p:nvSpPr>
        <p:spPr>
          <a:xfrm>
            <a:off x="6931152" y="2907792"/>
            <a:ext cx="173736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3B8B74"/>
                </a:solidFill>
              </a:defRPr>
            </a:lvl1pPr>
          </a:lstStyle>
          <a:p>
            <a:pPr/>
            <a:r>
              <a:t>FULL PRACTICE APP</a:t>
            </a:r>
          </a:p>
        </p:txBody>
      </p:sp>
      <p:sp>
        <p:nvSpPr>
          <p:cNvPr id="594" name="Text 14"/>
          <p:cNvSpPr txBox="1"/>
          <p:nvPr/>
        </p:nvSpPr>
        <p:spPr>
          <a:xfrm>
            <a:off x="6931152" y="3474720"/>
            <a:ext cx="3474721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822959">
              <a:defRPr b="1" sz="2250">
                <a:solidFill>
                  <a:schemeClr val="accent2">
                    <a:satOff val="-18194"/>
                    <a:lumOff val="-11215"/>
                  </a:schemeClr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defRPr>
            </a:lvl1pPr>
          </a:lstStyle>
          <a:p>
            <a:pPr>
              <a:defRPr>
                <a:uFillTx/>
              </a:defRPr>
            </a:pPr>
            <a:r>
              <a:rPr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mirror.iali.in</a:t>
            </a:r>
          </a:p>
        </p:txBody>
      </p:sp>
      <p:sp>
        <p:nvSpPr>
          <p:cNvPr id="595" name="Text 15"/>
          <p:cNvSpPr txBox="1"/>
          <p:nvPr/>
        </p:nvSpPr>
        <p:spPr>
          <a:xfrm>
            <a:off x="7004304" y="4160520"/>
            <a:ext cx="3273553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defRPr sz="1000">
                <a:solidFill>
                  <a:srgbClr val="4E5F6E"/>
                </a:solidFill>
              </a:defRPr>
            </a:lvl1pPr>
          </a:lstStyle>
          <a:p>
            <a:pPr/>
            <a:r>
              <a:t>Guided practice, calibration, baseline profile, trends, reports, and exports.</a:t>
            </a:r>
          </a:p>
        </p:txBody>
      </p:sp>
      <p:sp>
        <p:nvSpPr>
          <p:cNvPr id="596" name="Shape 16"/>
          <p:cNvSpPr/>
          <p:nvPr/>
        </p:nvSpPr>
        <p:spPr>
          <a:xfrm>
            <a:off x="2084832" y="5715000"/>
            <a:ext cx="8028432" cy="457200"/>
          </a:xfrm>
          <a:prstGeom prst="roundRect">
            <a:avLst>
              <a:gd name="adj" fmla="val 12000"/>
            </a:avLst>
          </a:prstGeom>
          <a:solidFill>
            <a:srgbClr val="F3E2E2"/>
          </a:solidFill>
          <a:ln w="10160">
            <a:solidFill>
              <a:srgbClr val="B65C5C">
                <a:alpha val="4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7" name="Shape 17"/>
          <p:cNvSpPr/>
          <p:nvPr/>
        </p:nvSpPr>
        <p:spPr>
          <a:xfrm>
            <a:off x="2084832" y="5715000"/>
            <a:ext cx="64009" cy="457200"/>
          </a:xfrm>
          <a:prstGeom prst="rect">
            <a:avLst/>
          </a:prstGeom>
          <a:solidFill>
            <a:srgbClr val="B65C5C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8" name="Text 18"/>
          <p:cNvSpPr txBox="1"/>
          <p:nvPr/>
        </p:nvSpPr>
        <p:spPr>
          <a:xfrm>
            <a:off x="2249423" y="5852159"/>
            <a:ext cx="771753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A1F33"/>
                </a:solidFill>
              </a:defRPr>
            </a:lvl1pPr>
          </a:lstStyle>
          <a:p>
            <a:pPr/>
            <a:r>
              <a:t>Medical caveat travels with the product: practice and self-tracking only; work with a qualified clinician.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1" name="Shape 1"/>
          <p:cNvSpPr/>
          <p:nvPr/>
        </p:nvSpPr>
        <p:spPr>
          <a:xfrm>
            <a:off x="256031" y="228600"/>
            <a:ext cx="109729" cy="109728"/>
          </a:xfrm>
          <a:prstGeom prst="rect">
            <a:avLst/>
          </a:prstGeom>
          <a:solidFill>
            <a:srgbClr val="1A9F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2" name="Shape 2"/>
          <p:cNvSpPr/>
          <p:nvPr/>
        </p:nvSpPr>
        <p:spPr>
          <a:xfrm>
            <a:off x="594359" y="566927"/>
            <a:ext cx="1051562" cy="256033"/>
          </a:xfrm>
          <a:prstGeom prst="roundRect">
            <a:avLst>
              <a:gd name="adj" fmla="val 17857"/>
            </a:avLst>
          </a:prstGeom>
          <a:solidFill>
            <a:srgbClr val="E6F4F4"/>
          </a:solidFill>
          <a:ln w="12700">
            <a:solidFill>
              <a:srgbClr val="BFE4E4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3" name="Text 3"/>
          <p:cNvSpPr txBox="1"/>
          <p:nvPr/>
        </p:nvSpPr>
        <p:spPr>
          <a:xfrm>
            <a:off x="704087" y="635508"/>
            <a:ext cx="832104" cy="9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850391">
              <a:defRPr b="1" sz="651">
                <a:solidFill>
                  <a:srgbClr val="1A9FA6"/>
                </a:solidFill>
              </a:defRPr>
            </a:lvl1pPr>
          </a:lstStyle>
          <a:p>
            <a:pPr/>
            <a:r>
              <a:t>CLOSING</a:t>
            </a:r>
          </a:p>
        </p:txBody>
      </p:sp>
      <p:sp>
        <p:nvSpPr>
          <p:cNvPr id="604" name="Text 4"/>
          <p:cNvSpPr txBox="1"/>
          <p:nvPr/>
        </p:nvSpPr>
        <p:spPr>
          <a:xfrm>
            <a:off x="621791" y="1234439"/>
            <a:ext cx="6309362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b="1" sz="36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From invisible recovery</a:t>
            </a:r>
          </a:p>
          <a:p>
            <a:pPr>
              <a:defRPr b="1" sz="3600">
                <a:solidFill>
                  <a:srgbClr val="0A1F33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to measurable practice.</a:t>
            </a:r>
          </a:p>
        </p:txBody>
      </p:sp>
      <p:sp>
        <p:nvSpPr>
          <p:cNvPr id="605" name="Text 5"/>
          <p:cNvSpPr txBox="1"/>
          <p:nvPr/>
        </p:nvSpPr>
        <p:spPr>
          <a:xfrm>
            <a:off x="658368" y="2788920"/>
            <a:ext cx="5669280" cy="621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04672">
              <a:defRPr sz="1496">
                <a:solidFill>
                  <a:srgbClr val="4E5F6E"/>
                </a:solidFill>
              </a:defRPr>
            </a:lvl1pPr>
          </a:lstStyle>
          <a:p>
            <a:pPr/>
            <a:r>
              <a:t>Mirror does not promise recovery. It gives people a private, repeatable way to see whether their practice is changing over time.</a:t>
            </a:r>
          </a:p>
        </p:txBody>
      </p:sp>
      <p:sp>
        <p:nvSpPr>
          <p:cNvPr id="606" name="Shape 6"/>
          <p:cNvSpPr/>
          <p:nvPr/>
        </p:nvSpPr>
        <p:spPr>
          <a:xfrm>
            <a:off x="685800" y="4069079"/>
            <a:ext cx="4846321" cy="105156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2C4"/>
            </a:solidFill>
          </a:ln>
          <a:effectLst>
            <a:outerShdw sx="100000" sy="100000" kx="0" ky="0" algn="b" rotWithShape="0" blurRad="12700" dist="508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" name="Text 7"/>
          <p:cNvSpPr txBox="1"/>
          <p:nvPr/>
        </p:nvSpPr>
        <p:spPr>
          <a:xfrm>
            <a:off x="960119" y="4343400"/>
            <a:ext cx="822962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1A9FA6"/>
                </a:solidFill>
              </a:defRPr>
            </a:lvl1pPr>
          </a:lstStyle>
          <a:p>
            <a:pPr/>
            <a:r>
              <a:t>BUILT BY</a:t>
            </a:r>
          </a:p>
        </p:txBody>
      </p:sp>
      <p:sp>
        <p:nvSpPr>
          <p:cNvPr id="608" name="Text 8"/>
          <p:cNvSpPr txBox="1"/>
          <p:nvPr/>
        </p:nvSpPr>
        <p:spPr>
          <a:xfrm>
            <a:off x="960119" y="4663440"/>
            <a:ext cx="2103122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41247">
              <a:defRPr b="1" sz="1748">
                <a:solidFill>
                  <a:schemeClr val="accent2">
                    <a:satOff val="-18194"/>
                    <a:lumOff val="-11215"/>
                  </a:schemeClr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uFillTx/>
              </a:defRPr>
            </a:pPr>
            <a:r>
              <a:rPr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Ali Mustufa</a:t>
            </a:r>
          </a:p>
        </p:txBody>
      </p:sp>
      <p:sp>
        <p:nvSpPr>
          <p:cNvPr id="609" name="Text 9"/>
          <p:cNvSpPr txBox="1"/>
          <p:nvPr/>
        </p:nvSpPr>
        <p:spPr>
          <a:xfrm>
            <a:off x="3154679" y="4681728"/>
            <a:ext cx="18745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 defTabSz="813816">
              <a:defRPr sz="712">
                <a:solidFill>
                  <a:srgbClr val="71808E"/>
                </a:solidFill>
              </a:defRPr>
            </a:lvl1pPr>
          </a:lstStyle>
          <a:p>
            <a:pPr/>
            <a:r>
              <a:t>X / Twitter · @ialimustufa · LinkedIn · in/ialimustufa</a:t>
            </a:r>
          </a:p>
        </p:txBody>
      </p:sp>
      <p:sp>
        <p:nvSpPr>
          <p:cNvPr id="610" name="Shape 10"/>
          <p:cNvSpPr/>
          <p:nvPr/>
        </p:nvSpPr>
        <p:spPr>
          <a:xfrm>
            <a:off x="6144767" y="4069079"/>
            <a:ext cx="5166361" cy="1051561"/>
          </a:xfrm>
          <a:prstGeom prst="roundRect">
            <a:avLst>
              <a:gd name="adj" fmla="val 6957"/>
            </a:avLst>
          </a:prstGeom>
          <a:solidFill>
            <a:srgbClr val="FBFAF7"/>
          </a:solidFill>
          <a:ln w="10160">
            <a:solidFill>
              <a:srgbClr val="D9D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1" name="Text 11"/>
          <p:cNvSpPr txBox="1"/>
          <p:nvPr/>
        </p:nvSpPr>
        <p:spPr>
          <a:xfrm>
            <a:off x="6419088" y="4343400"/>
            <a:ext cx="118872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b="1" sz="700">
                <a:solidFill>
                  <a:srgbClr val="C58B36"/>
                </a:solidFill>
              </a:defRPr>
            </a:lvl1pPr>
          </a:lstStyle>
          <a:p>
            <a:pPr/>
            <a:r>
              <a:t>SUPPORTED BY</a:t>
            </a:r>
          </a:p>
        </p:txBody>
      </p:sp>
      <p:sp>
        <p:nvSpPr>
          <p:cNvPr id="612" name="Text 12"/>
          <p:cNvSpPr txBox="1"/>
          <p:nvPr/>
        </p:nvSpPr>
        <p:spPr>
          <a:xfrm>
            <a:off x="6419088" y="4663440"/>
            <a:ext cx="41148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22959">
              <a:defRPr b="1" sz="1350">
                <a:solidFill>
                  <a:srgbClr val="0A1F33"/>
                </a:solidFill>
              </a:defRPr>
            </a:lvl1pPr>
          </a:lstStyle>
          <a:p>
            <a:pPr/>
            <a:r>
              <a:t>OpenAI · Render · MediaPipe · Claude · Pieces</a:t>
            </a:r>
          </a:p>
        </p:txBody>
      </p:sp>
      <p:sp>
        <p:nvSpPr>
          <p:cNvPr id="613" name="Text 13"/>
          <p:cNvSpPr txBox="1"/>
          <p:nvPr/>
        </p:nvSpPr>
        <p:spPr>
          <a:xfrm>
            <a:off x="621791" y="6327647"/>
            <a:ext cx="10607042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700">
                <a:solidFill>
                  <a:srgbClr val="71808E"/>
                </a:solidFill>
              </a:defRPr>
            </a:lvl1pPr>
          </a:lstStyle>
          <a:p>
            <a:pPr/>
            <a:r>
              <a:t>Sources: repository README and docs, original talk deck, privacy policy, model/scoring notes, clinical-scale estimate notes.</a:t>
            </a:r>
          </a:p>
        </p:txBody>
      </p:sp>
      <p:sp>
        <p:nvSpPr>
          <p:cNvPr id="614" name="Text 14"/>
          <p:cNvSpPr txBox="1"/>
          <p:nvPr/>
        </p:nvSpPr>
        <p:spPr>
          <a:xfrm>
            <a:off x="9308592" y="5925311"/>
            <a:ext cx="1783080" cy="206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defRPr b="1" sz="1300">
                <a:solidFill>
                  <a:srgbClr val="1A9FA6"/>
                </a:solidFill>
              </a:defRPr>
            </a:lvl1pPr>
          </a:lstStyle>
          <a:p>
            <a:pPr/>
            <a:r>
              <a:t>mirror.iali.in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7F4ED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